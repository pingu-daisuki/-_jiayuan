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950327325a49bd" /><Relationship Type="http://schemas.openxmlformats.org/officeDocument/2006/relationships/extended-properties" Target="/docProps/app.xml" Id="R8d0ac3b281104689" /><Relationship Type="http://schemas.openxmlformats.org/officeDocument/2006/relationships/officeDocument" Target="/ppt/presentation.xml" Id="R295c710c88af4a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ffc9fb91bc44db"/>
  </p:sldMasterIdLst>
  <p:notesMasterIdLst>
    <p:notesMasterId xmlns:r="http://schemas.openxmlformats.org/officeDocument/2006/relationships" r:id="R677baf54701d4c44"/>
  </p:notesMasterIdLst>
  <p:sldIdLst>
    <p:sldId xmlns:r="http://schemas.openxmlformats.org/officeDocument/2006/relationships" id="256" r:id="Rb0335cc0c5474a5d"/>
    <p:sldId xmlns:r="http://schemas.openxmlformats.org/officeDocument/2006/relationships" id="257" r:id="R20726acc75dd480b"/>
    <p:sldId xmlns:r="http://schemas.openxmlformats.org/officeDocument/2006/relationships" id="258" r:id="R138c7263f18f499b"/>
    <p:sldId xmlns:r="http://schemas.openxmlformats.org/officeDocument/2006/relationships" id="259" r:id="Rf84a1e6da3d8475c"/>
    <p:sldId xmlns:r="http://schemas.openxmlformats.org/officeDocument/2006/relationships" id="260" r:id="Rf39caa4db5b045b6"/>
    <p:sldId xmlns:r="http://schemas.openxmlformats.org/officeDocument/2006/relationships" id="261" r:id="R3bf955d01b2d4bb3"/>
    <p:sldId xmlns:r="http://schemas.openxmlformats.org/officeDocument/2006/relationships" id="262" r:id="R3c78a39c265243b4"/>
    <p:sldId xmlns:r="http://schemas.openxmlformats.org/officeDocument/2006/relationships" id="263" r:id="R6d6b759a7fb2444b"/>
    <p:sldId xmlns:r="http://schemas.openxmlformats.org/officeDocument/2006/relationships" id="264" r:id="Rf38e0e6688bf4bbe"/>
    <p:sldId xmlns:r="http://schemas.openxmlformats.org/officeDocument/2006/relationships" id="265" r:id="R8802be58d5df496e"/>
    <p:sldId xmlns:r="http://schemas.openxmlformats.org/officeDocument/2006/relationships" id="266" r:id="R19d54807122b450e"/>
    <p:sldId xmlns:r="http://schemas.openxmlformats.org/officeDocument/2006/relationships" id="267" r:id="R4482b91443b54910"/>
    <p:sldId xmlns:r="http://schemas.openxmlformats.org/officeDocument/2006/relationships" id="268" r:id="Rc6a1243490654f5a"/>
    <p:sldId xmlns:r="http://schemas.openxmlformats.org/officeDocument/2006/relationships" id="269" r:id="Re6dd883bbc274b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d257eac89b4105" /><Relationship Type="http://schemas.openxmlformats.org/officeDocument/2006/relationships/slideMaster" Target="/ppt/slideMasters/slideMaster1.xml" Id="R43ffc9fb91bc44db" /><Relationship Type="http://schemas.openxmlformats.org/officeDocument/2006/relationships/notesMaster" Target="/ppt/notesMasters/notesMaster1.xml" Id="R677baf54701d4c44" /><Relationship Type="http://schemas.openxmlformats.org/officeDocument/2006/relationships/presProps" Target="/ppt/presProps.xml" Id="R6e93e0de0d6b4cfb" /><Relationship Type="http://schemas.openxmlformats.org/officeDocument/2006/relationships/tableStyles" Target="/ppt/tableStyles.xml" Id="Ra857dbab1fcc47e6" /><Relationship Type="http://schemas.openxmlformats.org/officeDocument/2006/relationships/slide" Target="/ppt/slides/slide1.xml" Id="Rb0335cc0c5474a5d" /><Relationship Type="http://schemas.openxmlformats.org/officeDocument/2006/relationships/slide" Target="/ppt/slides/slide2.xml" Id="R20726acc75dd480b" /><Relationship Type="http://schemas.openxmlformats.org/officeDocument/2006/relationships/slide" Target="/ppt/slides/slide3.xml" Id="R138c7263f18f499b" /><Relationship Type="http://schemas.openxmlformats.org/officeDocument/2006/relationships/slide" Target="/ppt/slides/slide4.xml" Id="Rf84a1e6da3d8475c" /><Relationship Type="http://schemas.openxmlformats.org/officeDocument/2006/relationships/slide" Target="/ppt/slides/slide5.xml" Id="Rf39caa4db5b045b6" /><Relationship Type="http://schemas.openxmlformats.org/officeDocument/2006/relationships/slide" Target="/ppt/slides/slide6.xml" Id="R3bf955d01b2d4bb3" /><Relationship Type="http://schemas.openxmlformats.org/officeDocument/2006/relationships/slide" Target="/ppt/slides/slide7.xml" Id="R3c78a39c265243b4" /><Relationship Type="http://schemas.openxmlformats.org/officeDocument/2006/relationships/slide" Target="/ppt/slides/slide8.xml" Id="R6d6b759a7fb2444b" /><Relationship Type="http://schemas.openxmlformats.org/officeDocument/2006/relationships/slide" Target="/ppt/slides/slide9.xml" Id="Rf38e0e6688bf4bbe" /><Relationship Type="http://schemas.openxmlformats.org/officeDocument/2006/relationships/slide" Target="/ppt/slides/slide10.xml" Id="R8802be58d5df496e" /><Relationship Type="http://schemas.openxmlformats.org/officeDocument/2006/relationships/slide" Target="/ppt/slides/slide11.xml" Id="R19d54807122b450e" /><Relationship Type="http://schemas.openxmlformats.org/officeDocument/2006/relationships/slide" Target="/ppt/slides/slide12.xml" Id="R4482b91443b54910" /><Relationship Type="http://schemas.openxmlformats.org/officeDocument/2006/relationships/slide" Target="/ppt/slides/slide13.xml" Id="Rc6a1243490654f5a" /><Relationship Type="http://schemas.openxmlformats.org/officeDocument/2006/relationships/slide" Target="/ppt/slides/slide14.xml" Id="Re6dd883bbc274b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93328ec86f46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659828dec3484d" /><Relationship Type="http://schemas.openxmlformats.org/officeDocument/2006/relationships/notesMaster" Target="/ppt/notesMasters/notesMaster1.xml" Id="R2431366248e94a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fea7d214b6478b" /><Relationship Type="http://schemas.openxmlformats.org/officeDocument/2006/relationships/notesMaster" Target="/ppt/notesMasters/notesMaster1.xml" Id="Ra88b2461074247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a654e206484e64" /><Relationship Type="http://schemas.openxmlformats.org/officeDocument/2006/relationships/notesMaster" Target="/ppt/notesMasters/notesMaster1.xml" Id="R10b654ddd56345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2716b3bac14f1c" /><Relationship Type="http://schemas.openxmlformats.org/officeDocument/2006/relationships/notesMaster" Target="/ppt/notesMasters/notesMaster1.xml" Id="R384e64b9120541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8b969bbc714ea8" /><Relationship Type="http://schemas.openxmlformats.org/officeDocument/2006/relationships/notesMaster" Target="/ppt/notesMasters/notesMaster1.xml" Id="R3162e336662b4e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35300b60fc4009" /><Relationship Type="http://schemas.openxmlformats.org/officeDocument/2006/relationships/notesMaster" Target="/ppt/notesMasters/notesMaster1.xml" Id="Ra805b683e52e45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2192c990934d38" /><Relationship Type="http://schemas.openxmlformats.org/officeDocument/2006/relationships/notesMaster" Target="/ppt/notesMasters/notesMaster1.xml" Id="R8094a1b057c247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0086c99da04457" /><Relationship Type="http://schemas.openxmlformats.org/officeDocument/2006/relationships/notesMaster" Target="/ppt/notesMasters/notesMaster1.xml" Id="R402565268bf349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7957895dab4ae2" /><Relationship Type="http://schemas.openxmlformats.org/officeDocument/2006/relationships/notesMaster" Target="/ppt/notesMasters/notesMaster1.xml" Id="R7bf7254edeba42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264f9bff104366" /><Relationship Type="http://schemas.openxmlformats.org/officeDocument/2006/relationships/notesMaster" Target="/ppt/notesMasters/notesMaster1.xml" Id="Rd22a355509204b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b717c74d794c2a" /><Relationship Type="http://schemas.openxmlformats.org/officeDocument/2006/relationships/notesMaster" Target="/ppt/notesMasters/notesMaster1.xml" Id="R6b77ec0b52e44d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f26bd133174c53" /><Relationship Type="http://schemas.openxmlformats.org/officeDocument/2006/relationships/notesMaster" Target="/ppt/notesMasters/notesMaster1.xml" Id="R74d556069b9947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44c359fc264ebb" /><Relationship Type="http://schemas.openxmlformats.org/officeDocument/2006/relationships/notesMaster" Target="/ppt/notesMasters/notesMaster1.xml" Id="R9aa84c3b2f1b4c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0eb9f2333c492d" /><Relationship Type="http://schemas.openxmlformats.org/officeDocument/2006/relationships/notesMaster" Target="/ppt/notesMasters/notesMaster1.xml" Id="R9f3a9705e41940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dc35263b64b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84bcd5c9f5403b" /><Relationship Type="http://schemas.openxmlformats.org/officeDocument/2006/relationships/slideLayout" Target="/ppt/slideLayouts/slideLayout1.xml" Id="R39cab83b75cb49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cab83b75cb49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cb69de4f94f7a" /><Relationship Type="http://schemas.openxmlformats.org/officeDocument/2006/relationships/notesSlide" Target="/ppt/notesSlides/notesSlide1.xml" Id="Rcd795fe5468a43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dc54f3d544b0a" /><Relationship Type="http://schemas.openxmlformats.org/officeDocument/2006/relationships/notesSlide" Target="/ppt/notesSlides/notesSlide2.xml" Id="R0bb66dce98f549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b5052e183431c" /><Relationship Type="http://schemas.openxmlformats.org/officeDocument/2006/relationships/notesSlide" Target="/ppt/notesSlides/notesSlide3.xml" Id="R0bc79d230c104d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49f60cd524165" /><Relationship Type="http://schemas.openxmlformats.org/officeDocument/2006/relationships/notesSlide" Target="/ppt/notesSlides/notesSlide4.xml" Id="R3d10ff80da6543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9b5116c984d69" /><Relationship Type="http://schemas.openxmlformats.org/officeDocument/2006/relationships/notesSlide" Target="/ppt/notesSlides/notesSlide5.xml" Id="Rce4d5401c3fc4f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0ae7237bf4ebf" /><Relationship Type="http://schemas.openxmlformats.org/officeDocument/2006/relationships/notesSlide" Target="/ppt/notesSlides/notesSlide6.xml" Id="Rb417162f55b84a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d65854f77461a" /><Relationship Type="http://schemas.openxmlformats.org/officeDocument/2006/relationships/notesSlide" Target="/ppt/notesSlides/notesSlide7.xml" Id="Rb60c46d9975a4a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718582eb94fb3" /><Relationship Type="http://schemas.openxmlformats.org/officeDocument/2006/relationships/notesSlide" Target="/ppt/notesSlides/notesSlide8.xml" Id="Ra66f3848473046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d6f9565ad4935" /><Relationship Type="http://schemas.openxmlformats.org/officeDocument/2006/relationships/notesSlide" Target="/ppt/notesSlides/notesSlide9.xml" Id="Rbf8cc903a0e445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9dcf860cf4662" /><Relationship Type="http://schemas.openxmlformats.org/officeDocument/2006/relationships/notesSlide" Target="/ppt/notesSlides/notesSlide10.xml" Id="R4cfd1fe593a146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9c47a94164e87" /><Relationship Type="http://schemas.openxmlformats.org/officeDocument/2006/relationships/notesSlide" Target="/ppt/notesSlides/notesSlide11.xml" Id="R4526ae33138c40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84df5e01f4334" /><Relationship Type="http://schemas.openxmlformats.org/officeDocument/2006/relationships/notesSlide" Target="/ppt/notesSlides/notesSlide12.xml" Id="R9a7d0f4dff2649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36fd389cf465d" /><Relationship Type="http://schemas.openxmlformats.org/officeDocument/2006/relationships/notesSlide" Target="/ppt/notesSlides/notesSlide13.xml" Id="R03b2f1abb6024c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50c385bda446a" /><Relationship Type="http://schemas.openxmlformats.org/officeDocument/2006/relationships/notesSlide" Target="/ppt/notesSlides/notesSlide14.xml" Id="Rd701a2da7fae43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A5E3C516-143E-41FF-854A-367B2A24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小学期课程项目汇报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774369A-B3B3-4FD9-AF72-C38B8738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4300" cy="2952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main">
            <a:extLst xmlns:a="http://schemas.openxmlformats.org/drawingml/2006/main">
              <a:ext uri="{FF2B5EF4-FFF2-40B4-BE49-F238E27FC236}">
                <a16:creationId xmlns:a16="http://schemas.microsoft.com/office/drawing/2014/main" id="{508941D3-6B5C-46F1-A49A-06E30B5D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厦大 JiaYuan</a:t>
            </a:r>
          </a:p>
        </p:txBody>
      </p:sp>
      <p:sp>
        <p:nvSpPr>
          <p:cNvPr id="4" name="title-message">
            <a:extLst xmlns:a="http://schemas.openxmlformats.org/drawingml/2006/main">
              <a:ext uri="{FF2B5EF4-FFF2-40B4-BE49-F238E27FC236}">
                <a16:creationId xmlns:a16="http://schemas.microsoft.com/office/drawing/2014/main" id="{89DFC317-CD10-466A-9169-7D017993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把课程资料变成可检索、</a:t>
            </a:r>
          </a:p>
          <a:p xmlns:a="http://schemas.openxmlformats.org/drawingml/2006/main">
            <a:pPr algn="l">
              <a:buNone/>
              <a:defRPr sz="3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可追溯的本地知识库</a:t>
            </a:r>
          </a:p>
        </p:txBody>
      </p:sp>
      <p:sp>
        <p:nvSpPr>
          <p:cNvPr id="5" name="title-sub">
            <a:extLst xmlns:a="http://schemas.openxmlformats.org/drawingml/2006/main">
              <a:ext uri="{FF2B5EF4-FFF2-40B4-BE49-F238E27FC236}">
                <a16:creationId xmlns:a16="http://schemas.microsoft.com/office/drawing/2014/main" id="{7AB1251F-0A8D-4441-8A1A-182F33BE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Vue 3 · FastAPI · RAG · Electron</a:t>
            </a:r>
          </a:p>
        </p:txBody>
      </p:sp>
      <p:sp>
        <p:nvSpPr>
          <p:cNvPr id="6" name="title-meta">
            <a:extLst xmlns:a="http://schemas.openxmlformats.org/drawingml/2006/main">
              <a:ext uri="{FF2B5EF4-FFF2-40B4-BE49-F238E27FC236}">
                <a16:creationId xmlns:a16="http://schemas.microsoft.com/office/drawing/2014/main" id="{58956EC3-A185-49D1-867E-62534F9A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汇报人：__________    2026.07</a:t>
            </a:r>
          </a:p>
        </p:txBody>
      </p:sp>
      <p:sp>
        <p:nvSpPr>
          <p:cNvPr id="7" name="title-mark">
            <a:extLst xmlns:a="http://schemas.openxmlformats.org/drawingml/2006/main">
              <a:ext uri="{FF2B5EF4-FFF2-40B4-BE49-F238E27FC236}">
                <a16:creationId xmlns:a16="http://schemas.microsoft.com/office/drawing/2014/main" id="{EB584612-38B7-4E84-86DE-BC8F62CC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007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JIAYUAN</a:t>
            </a:r>
          </a:p>
        </p:txBody>
      </p:sp>
    </p:spTree>
    <p:extLst>
      <p:ext uri="{BB962C8B-B14F-4D97-AF65-F5344CB8AC3E}">
        <p14:creationId xmlns:p14="http://schemas.microsoft.com/office/powerpoint/2010/main" val="603690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3EE5B169-8300-4470-8AAA-E38C5429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· 项目定位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4A4A1E0-85C4-4F15-8F92-EE119EB2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这个项目解决的是：资料很多，但很难快速找到可信答案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63152050-66BE-4FEE-B135-369ACC76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problem-big-0">
            <a:extLst xmlns:a="http://schemas.openxmlformats.org/drawingml/2006/main">
              <a:ext uri="{FF2B5EF4-FFF2-40B4-BE49-F238E27FC236}">
                <a16:creationId xmlns:a16="http://schemas.microsoft.com/office/drawing/2014/main" id="{FA4B236C-FC29-4971-AF48-62AE7DA5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1F265C6F-C5D8-4DA2-8542-37C6EAAF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信息分散</a:t>
            </a:r>
          </a:p>
        </p:txBody>
      </p:sp>
      <p:sp>
        <p:nvSpPr>
          <p:cNvPr id="6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95DEDF2A-708B-40B0-90A7-8F2771AB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PDF、PPT、Word 与网页散落在不同课程和文件夹中，缺少统一入口。</a:t>
            </a:r>
          </a:p>
        </p:txBody>
      </p:sp>
      <p:sp>
        <p:nvSpPr>
          <p:cNvPr id="7" name="problem-big-1">
            <a:extLst xmlns:a="http://schemas.openxmlformats.org/drawingml/2006/main">
              <a:ext uri="{FF2B5EF4-FFF2-40B4-BE49-F238E27FC236}">
                <a16:creationId xmlns:a16="http://schemas.microsoft.com/office/drawing/2014/main" id="{29ACAC7A-D3BB-4979-BC18-D7625EC3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433ED41E-9BB4-4926-B070-A6BEEA06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76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定位低效</a:t>
            </a:r>
          </a:p>
        </p:txBody>
      </p:sp>
      <p:sp>
        <p:nvSpPr>
          <p:cNvPr id="9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2856790C-70B6-419B-89D6-B1A21909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29000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全文翻找耗时；扫描版 PDF 还需要 OCR，复杂版面更难直接提取。</a:t>
            </a:r>
          </a:p>
        </p:txBody>
      </p:sp>
      <p:sp>
        <p:nvSpPr>
          <p:cNvPr id="10" name="problem-big-2">
            <a:extLst xmlns:a="http://schemas.openxmlformats.org/drawingml/2006/main">
              <a:ext uri="{FF2B5EF4-FFF2-40B4-BE49-F238E27FC236}">
                <a16:creationId xmlns:a16="http://schemas.microsoft.com/office/drawing/2014/main" id="{236E42A4-359E-42EF-836A-3FC70DF5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24DE21E4-3A66-4C4B-B85A-63EAF7FB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76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答案难验证</a:t>
            </a:r>
          </a:p>
        </p:txBody>
      </p:sp>
      <p:sp>
        <p:nvSpPr>
          <p:cNvPr id="12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898EA3A4-1E70-4727-A345-37003306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3143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普通聊天可以给出结论，却常常缺少页码、幻灯片或章节来源。</a:t>
            </a:r>
          </a:p>
        </p:txBody>
      </p:sp>
      <p:cxnSp>
        <p:nvCxnSpPr>
          <p:cNvPr id="40" name="problem-rule"/>
          <p:cNvCxnSpPr/>
          <p:nvPr/>
        </p:nvCxnSpPr>
        <p:spPr>
          <a:xfrm xmlns:a="http://schemas.openxmlformats.org/drawingml/2006/main">
            <a:off x="495300" y="52578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problem-answer">
            <a:extLst xmlns:a="http://schemas.openxmlformats.org/drawingml/2006/main">
              <a:ext uri="{FF2B5EF4-FFF2-40B4-BE49-F238E27FC236}">
                <a16:creationId xmlns:a16="http://schemas.microsoft.com/office/drawing/2014/main" id="{CB609F36-F704-4CED-BCE9-7997488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我的选择：做一个本地优先、带引用的课程知识库，并把常用校园工具集中到同一桌面端。</a:t>
            </a:r>
          </a:p>
        </p:txBody>
      </p:sp>
    </p:spTree>
    <p:extLst>
      <p:ext uri="{BB962C8B-B14F-4D97-AF65-F5344CB8AC3E}">
        <p14:creationId xmlns:p14="http://schemas.microsoft.com/office/powerpoint/2010/main" val="540073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08B5FC47-6873-4F74-A610-AD860A25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· 功能全景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BA92D70-4463-4446-A76B-8A8D8464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JiaYuan 已形成 6 个可切换的学习工作区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01F69986-41E1-401E-B27B-F79CD73A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feature-1-circle">
            <a:extLst xmlns:a="http://schemas.openxmlformats.org/drawingml/2006/main">
              <a:ext uri="{FF2B5EF4-FFF2-40B4-BE49-F238E27FC236}">
                <a16:creationId xmlns:a16="http://schemas.microsoft.com/office/drawing/2014/main" id="{5098BBBF-55A0-458E-9990-764EB731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ature-1-number">
            <a:extLst xmlns:a="http://schemas.openxmlformats.org/drawingml/2006/main">
              <a:ext uri="{FF2B5EF4-FFF2-40B4-BE49-F238E27FC236}">
                <a16:creationId xmlns:a16="http://schemas.microsoft.com/office/drawing/2014/main" id="{F191A0D7-6AB7-4E50-B62C-A9C3520E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E02FD9E-4B0E-4E58-B449-E3CA50B4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478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XMU_RAG</a:t>
            </a:r>
          </a:p>
        </p:txBody>
      </p:sp>
      <p:sp>
        <p:nvSpPr>
          <p:cNvPr id="7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DE5F3A71-4367-4DE0-84B1-F680AC29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468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拖拽/URL 导入、范围检索、流式问答、引用跳转</a:t>
            </a:r>
          </a:p>
        </p:txBody>
      </p:sp>
      <p:sp>
        <p:nvSpPr>
          <p:cNvPr id="8" name="feature-2-circle">
            <a:extLst xmlns:a="http://schemas.openxmlformats.org/drawingml/2006/main">
              <a:ext uri="{FF2B5EF4-FFF2-40B4-BE49-F238E27FC236}">
                <a16:creationId xmlns:a16="http://schemas.microsoft.com/office/drawing/2014/main" id="{FE598991-DFA8-46A2-940E-50BC14C7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eature-2-number">
            <a:extLst xmlns:a="http://schemas.openxmlformats.org/drawingml/2006/main">
              <a:ext uri="{FF2B5EF4-FFF2-40B4-BE49-F238E27FC236}">
                <a16:creationId xmlns:a16="http://schemas.microsoft.com/office/drawing/2014/main" id="{E491F8B1-9EC0-4977-9049-75226392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668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6592D3A5-CE0F-4FAF-B404-66FD8C99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47825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XMU_Library</a:t>
            </a:r>
          </a:p>
        </p:txBody>
      </p:sp>
      <p:sp>
        <p:nvSpPr>
          <p:cNvPr id="11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F6712DDC-9D39-4DBC-A86F-B9EEA88B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38350"/>
            <a:ext cx="478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课程树、模糊搜索、移动/删除、预览与重新索引</a:t>
            </a:r>
          </a:p>
        </p:txBody>
      </p:sp>
      <p:sp>
        <p:nvSpPr>
          <p:cNvPr id="12" name="feature-3-circle">
            <a:extLst xmlns:a="http://schemas.openxmlformats.org/drawingml/2006/main">
              <a:ext uri="{FF2B5EF4-FFF2-40B4-BE49-F238E27FC236}">
                <a16:creationId xmlns:a16="http://schemas.microsoft.com/office/drawing/2014/main" id="{A17F8AB5-1C28-4D10-B8BA-1467EF16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eature-3-number">
            <a:extLst xmlns:a="http://schemas.openxmlformats.org/drawingml/2006/main">
              <a:ext uri="{FF2B5EF4-FFF2-40B4-BE49-F238E27FC236}">
                <a16:creationId xmlns:a16="http://schemas.microsoft.com/office/drawing/2014/main" id="{161E2AA2-DB28-415F-95F6-6E53B860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8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47C1EC67-29BF-42DE-9BD1-213DAFC9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194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XMU_RollCall</a:t>
            </a:r>
          </a:p>
        </p:txBody>
      </p:sp>
      <p:sp>
        <p:nvSpPr>
          <p:cNvPr id="15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8FB70FF5-3E3B-496D-9491-A5685F6D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468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统一身份认证、签到策略、流式任务日志</a:t>
            </a:r>
          </a:p>
        </p:txBody>
      </p:sp>
      <p:sp>
        <p:nvSpPr>
          <p:cNvPr id="16" name="feature-4-circle">
            <a:extLst xmlns:a="http://schemas.openxmlformats.org/drawingml/2006/main">
              <a:ext uri="{FF2B5EF4-FFF2-40B4-BE49-F238E27FC236}">
                <a16:creationId xmlns:a16="http://schemas.microsoft.com/office/drawing/2014/main" id="{A3B23DA5-F40B-4DA4-A64D-BB189132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eature-4-number">
            <a:extLst xmlns:a="http://schemas.openxmlformats.org/drawingml/2006/main">
              <a:ext uri="{FF2B5EF4-FFF2-40B4-BE49-F238E27FC236}">
                <a16:creationId xmlns:a16="http://schemas.microsoft.com/office/drawing/2014/main" id="{327D6667-A87D-493A-873A-5BEE5C62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384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76A42EBD-7C12-43C0-A1AF-B6303A7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19425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XMU_DeadLines</a:t>
            </a:r>
          </a:p>
        </p:txBody>
      </p:sp>
      <p:sp>
        <p:nvSpPr>
          <p:cNvPr id="19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97973E3D-5C91-4603-B262-F20D22BD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478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同步课程作业与考试截止时间，按紧急度展示</a:t>
            </a:r>
          </a:p>
        </p:txBody>
      </p:sp>
      <p:sp>
        <p:nvSpPr>
          <p:cNvPr id="20" name="feature-5-circle">
            <a:extLst xmlns:a="http://schemas.openxmlformats.org/drawingml/2006/main">
              <a:ext uri="{FF2B5EF4-FFF2-40B4-BE49-F238E27FC236}">
                <a16:creationId xmlns:a16="http://schemas.microsoft.com/office/drawing/2014/main" id="{8AF14AA4-154A-46A8-838F-66AE7E49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eature-5-number">
            <a:extLst xmlns:a="http://schemas.openxmlformats.org/drawingml/2006/main">
              <a:ext uri="{FF2B5EF4-FFF2-40B4-BE49-F238E27FC236}">
                <a16:creationId xmlns:a16="http://schemas.microsoft.com/office/drawing/2014/main" id="{52329611-9CEA-4920-9C3D-805E98D1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00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5F93185C-08A3-4882-938D-6E264660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10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XMU_OJ</a:t>
            </a:r>
          </a:p>
        </p:txBody>
      </p:sp>
      <p:sp>
        <p:nvSpPr>
          <p:cNvPr id="23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68998C09-B24E-4B36-AA46-FFE63C4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468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读取实验题目、模型生成代码、提交并轮询评测</a:t>
            </a:r>
          </a:p>
        </p:txBody>
      </p:sp>
      <p:sp>
        <p:nvSpPr>
          <p:cNvPr id="24" name="feature-6-circle">
            <a:extLst xmlns:a="http://schemas.openxmlformats.org/drawingml/2006/main">
              <a:ext uri="{FF2B5EF4-FFF2-40B4-BE49-F238E27FC236}">
                <a16:creationId xmlns:a16="http://schemas.microsoft.com/office/drawing/2014/main" id="{1AEBD16D-8894-415A-979F-83E187AB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eature-6-number">
            <a:extLst xmlns:a="http://schemas.openxmlformats.org/drawingml/2006/main">
              <a:ext uri="{FF2B5EF4-FFF2-40B4-BE49-F238E27FC236}">
                <a16:creationId xmlns:a16="http://schemas.microsoft.com/office/drawing/2014/main" id="{7EF52577-06F5-4B17-BDF1-B7825C3B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CC431807-0BA9-4F2A-9453-31E4D86F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91025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Settings</a:t>
            </a:r>
          </a:p>
        </p:txBody>
      </p:sp>
      <p:sp>
        <p:nvSpPr>
          <p:cNvPr id="27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8738446-E6D8-4895-AF53-FEF475E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81550"/>
            <a:ext cx="478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多模型配置、PyMuPDF/Marker/MinerU 与 CPU/GPU 初始化</a:t>
            </a:r>
          </a:p>
        </p:txBody>
      </p:sp>
      <p:sp>
        <p:nvSpPr>
          <p:cNvPr id="28" name="workspace-note">
            <a:extLst xmlns:a="http://schemas.openxmlformats.org/drawingml/2006/main">
              <a:ext uri="{FF2B5EF4-FFF2-40B4-BE49-F238E27FC236}">
                <a16:creationId xmlns:a16="http://schemas.microsoft.com/office/drawing/2014/main" id="{D3C90770-BD6C-45FC-BE77-0FB34C21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主界面通过 KeepAlive 保留各模块状态，适合在问答、资料管理和校园任务之间来回切换。</a:t>
            </a:r>
          </a:p>
        </p:txBody>
      </p:sp>
    </p:spTree>
    <p:extLst>
      <p:ext uri="{BB962C8B-B14F-4D97-AF65-F5344CB8AC3E}">
        <p14:creationId xmlns:p14="http://schemas.microsoft.com/office/powerpoint/2010/main" val="2016849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F1BF7F06-1FFE-43BB-A317-352543DA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 · 系统架构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E3C250F-D310-4779-9E2B-A3C1BB71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四层分工让界面、业务、数据和桌面交付彼此解耦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E5C010FC-6C45-40B5-A711-465C991D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32" name="arch-arrow-0"/>
          <p:cNvCxnSpPr/>
          <p:nvPr/>
        </p:nvCxnSpPr>
        <p:spPr>
          <a:xfrm xmlns:a="http://schemas.openxmlformats.org/drawingml/2006/main">
            <a:off x="2571750" y="3086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3" name="arch-arrow-1"/>
          <p:cNvCxnSpPr/>
          <p:nvPr/>
        </p:nvCxnSpPr>
        <p:spPr>
          <a:xfrm xmlns:a="http://schemas.openxmlformats.org/drawingml/2006/main">
            <a:off x="5067300" y="3086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4" name="arch-arrow-2"/>
          <p:cNvCxnSpPr/>
          <p:nvPr/>
        </p:nvCxnSpPr>
        <p:spPr>
          <a:xfrm xmlns:a="http://schemas.openxmlformats.org/drawingml/2006/main">
            <a:off x="7562850" y="3086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arch-card-0">
            <a:extLst xmlns:a="http://schemas.openxmlformats.org/drawingml/2006/main">
              <a:ext uri="{FF2B5EF4-FFF2-40B4-BE49-F238E27FC236}">
                <a16:creationId xmlns:a16="http://schemas.microsoft.com/office/drawing/2014/main" id="{A73180F1-77E5-49A8-AE43-8D131DEE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962150" cy="21336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rch-card-title-0">
            <a:extLst xmlns:a="http://schemas.openxmlformats.org/drawingml/2006/main">
              <a:ext uri="{FF2B5EF4-FFF2-40B4-BE49-F238E27FC236}">
                <a16:creationId xmlns:a16="http://schemas.microsoft.com/office/drawing/2014/main" id="{AEB84097-8FF0-4E48-A7ED-E3F06B0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Vue 3 前端</a:t>
            </a:r>
          </a:p>
        </p:txBody>
      </p:sp>
      <p:sp>
        <p:nvSpPr>
          <p:cNvPr id="9" name="arch-card-body-0">
            <a:extLst xmlns:a="http://schemas.openxmlformats.org/drawingml/2006/main">
              <a:ext uri="{FF2B5EF4-FFF2-40B4-BE49-F238E27FC236}">
                <a16:creationId xmlns:a16="http://schemas.microsoft.com/office/drawing/2014/main" id="{608529C7-F4A4-443D-BED8-4AEB67F6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Element Plus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交互与展示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ReadableStream</a:t>
            </a:r>
          </a:p>
        </p:txBody>
      </p:sp>
      <p:sp>
        <p:nvSpPr>
          <p:cNvPr id="10" name="arch-card-1">
            <a:extLst xmlns:a="http://schemas.openxmlformats.org/drawingml/2006/main">
              <a:ext uri="{FF2B5EF4-FFF2-40B4-BE49-F238E27FC236}">
                <a16:creationId xmlns:a16="http://schemas.microsoft.com/office/drawing/2014/main" id="{4DA91F8F-5A63-4C1D-8472-9E39C045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43150"/>
            <a:ext cx="1962150" cy="21336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rch-card-title-1">
            <a:extLst xmlns:a="http://schemas.openxmlformats.org/drawingml/2006/main">
              <a:ext uri="{FF2B5EF4-FFF2-40B4-BE49-F238E27FC236}">
                <a16:creationId xmlns:a16="http://schemas.microsoft.com/office/drawing/2014/main" id="{E81086BB-6896-408D-A76D-D256402C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527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FastAPI 路由</a:t>
            </a:r>
          </a:p>
        </p:txBody>
      </p:sp>
      <p:sp>
        <p:nvSpPr>
          <p:cNvPr id="12" name="arch-card-body-1">
            <a:extLst xmlns:a="http://schemas.openxmlformats.org/drawingml/2006/main">
              <a:ext uri="{FF2B5EF4-FFF2-40B4-BE49-F238E27FC236}">
                <a16:creationId xmlns:a16="http://schemas.microsoft.com/office/drawing/2014/main" id="{22279407-8829-449A-AC55-83EDEC4C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2420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chat / rag / library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campus / deadlines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oj / engine</a:t>
            </a:r>
          </a:p>
        </p:txBody>
      </p:sp>
      <p:sp>
        <p:nvSpPr>
          <p:cNvPr id="13" name="arch-card-2">
            <a:extLst xmlns:a="http://schemas.openxmlformats.org/drawingml/2006/main">
              <a:ext uri="{FF2B5EF4-FFF2-40B4-BE49-F238E27FC236}">
                <a16:creationId xmlns:a16="http://schemas.microsoft.com/office/drawing/2014/main" id="{5F8858CA-EE1D-40CE-BC9E-4DC14276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43150"/>
            <a:ext cx="1962150" cy="21336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arch-card-title-2">
            <a:extLst xmlns:a="http://schemas.openxmlformats.org/drawingml/2006/main">
              <a:ext uri="{FF2B5EF4-FFF2-40B4-BE49-F238E27FC236}">
                <a16:creationId xmlns:a16="http://schemas.microsoft.com/office/drawing/2014/main" id="{ED8714D6-488B-4AAA-8412-76CBAA81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527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业务核心层</a:t>
            </a:r>
          </a:p>
        </p:txBody>
      </p:sp>
      <p:sp>
        <p:nvSpPr>
          <p:cNvPr id="15" name="arch-card-body-2">
            <a:extLst xmlns:a="http://schemas.openxmlformats.org/drawingml/2006/main">
              <a:ext uri="{FF2B5EF4-FFF2-40B4-BE49-F238E27FC236}">
                <a16:creationId xmlns:a16="http://schemas.microsoft.com/office/drawing/2014/main" id="{CEC6D56B-D328-4040-B656-71889B0F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文档解析与校验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RAG 检索与状态补偿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校园认证与 OJ</a:t>
            </a:r>
          </a:p>
        </p:txBody>
      </p:sp>
      <p:sp>
        <p:nvSpPr>
          <p:cNvPr id="16" name="arch-card-3">
            <a:extLst xmlns:a="http://schemas.openxmlformats.org/drawingml/2006/main">
              <a:ext uri="{FF2B5EF4-FFF2-40B4-BE49-F238E27FC236}">
                <a16:creationId xmlns:a16="http://schemas.microsoft.com/office/drawing/2014/main" id="{4BCB7892-01F2-48E5-B08E-204BAA95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962150" cy="21336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rch-card-title-3">
            <a:extLst xmlns:a="http://schemas.openxmlformats.org/drawingml/2006/main">
              <a:ext uri="{FF2B5EF4-FFF2-40B4-BE49-F238E27FC236}">
                <a16:creationId xmlns:a16="http://schemas.microsoft.com/office/drawing/2014/main" id="{3EE672F4-0AAE-4279-AC5B-10F289F4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本地数据层</a:t>
            </a:r>
          </a:p>
        </p:txBody>
      </p:sp>
      <p:sp>
        <p:nvSpPr>
          <p:cNvPr id="18" name="arch-card-body-3">
            <a:extLst xmlns:a="http://schemas.openxmlformats.org/drawingml/2006/main">
              <a:ext uri="{FF2B5EF4-FFF2-40B4-BE49-F238E27FC236}">
                <a16:creationId xmlns:a16="http://schemas.microsoft.com/office/drawing/2014/main" id="{9FEB41B0-CB7D-4796-B462-136B3A04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SQLite · Chroma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uploads · models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engine flags</a:t>
            </a:r>
          </a:p>
        </p:txBody>
      </p:sp>
      <p:sp>
        <p:nvSpPr>
          <p:cNvPr id="19" name="arch-electron-box">
            <a:extLst xmlns:a="http://schemas.openxmlformats.org/drawingml/2006/main">
              <a:ext uri="{FF2B5EF4-FFF2-40B4-BE49-F238E27FC236}">
                <a16:creationId xmlns:a16="http://schemas.microsoft.com/office/drawing/2014/main" id="{85633AF1-96AA-4616-8467-DAB21545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85950"/>
            <a:ext cx="1390650" cy="30099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electron-title">
            <a:extLst xmlns:a="http://schemas.openxmlformats.org/drawingml/2006/main">
              <a:ext uri="{FF2B5EF4-FFF2-40B4-BE49-F238E27FC236}">
                <a16:creationId xmlns:a16="http://schemas.microsoft.com/office/drawing/2014/main" id="{9E23C337-D9A1-4B50-8D46-78BBBDAC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5265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Electron</a:t>
            </a:r>
          </a:p>
        </p:txBody>
      </p:sp>
      <p:sp>
        <p:nvSpPr>
          <p:cNvPr id="21" name="arch-electron-body">
            <a:extLst xmlns:a="http://schemas.openxmlformats.org/drawingml/2006/main">
              <a:ext uri="{FF2B5EF4-FFF2-40B4-BE49-F238E27FC236}">
                <a16:creationId xmlns:a16="http://schemas.microsoft.com/office/drawing/2014/main" id="{1BBD7F59-8D2F-4630-894F-49DB6F1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0350"/>
            <a:ext cx="1009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桌面壳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私有 Python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模型归档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后端进程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探活与回收</a:t>
            </a:r>
          </a:p>
        </p:txBody>
      </p:sp>
      <p:sp>
        <p:nvSpPr>
          <p:cNvPr id="22" name="arch-mode-note">
            <a:extLst xmlns:a="http://schemas.openxmlformats.org/drawingml/2006/main">
              <a:ext uri="{FF2B5EF4-FFF2-40B4-BE49-F238E27FC236}">
                <a16:creationId xmlns:a16="http://schemas.microsoft.com/office/drawing/2014/main" id="{5FFF5EE1-911B-4D3F-A600-DBA3FD05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开发：Vue :5173 + FastAPI :8000    |    桌面：静态前端 + Electron 管理 FastAPI :8765</a:t>
            </a:r>
          </a:p>
        </p:txBody>
      </p:sp>
    </p:spTree>
    <p:extLst>
      <p:ext uri="{BB962C8B-B14F-4D97-AF65-F5344CB8AC3E}">
        <p14:creationId xmlns:p14="http://schemas.microsoft.com/office/powerpoint/2010/main" val="179578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8A6F453A-5F00-4F87-ABCE-D687329C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 · RAG 入库链路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F1E366C-BB60-4CCC-9528-27FC302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入库状态机让文档处理可观察、可恢复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ECD2561C-AB08-40D0-96D2-283168CE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66" name="ingest-arrow-0"/>
          <p:cNvCxnSpPr/>
          <p:nvPr/>
        </p:nvCxnSpPr>
        <p:spPr>
          <a:xfrm xmlns:a="http://schemas.openxmlformats.org/drawingml/2006/main">
            <a:off x="22288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7" name="ingest-arrow-1"/>
          <p:cNvCxnSpPr/>
          <p:nvPr/>
        </p:nvCxnSpPr>
        <p:spPr>
          <a:xfrm xmlns:a="http://schemas.openxmlformats.org/drawingml/2006/main">
            <a:off x="43624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8" name="ingest-arrow-2"/>
          <p:cNvCxnSpPr/>
          <p:nvPr/>
        </p:nvCxnSpPr>
        <p:spPr>
          <a:xfrm xmlns:a="http://schemas.openxmlformats.org/drawingml/2006/main">
            <a:off x="64960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9" name="ingest-arrow-3"/>
          <p:cNvCxnSpPr/>
          <p:nvPr/>
        </p:nvCxnSpPr>
        <p:spPr>
          <a:xfrm xmlns:a="http://schemas.openxmlformats.org/drawingml/2006/main">
            <a:off x="86296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8" name="ingest-node-0">
            <a:extLst xmlns:a="http://schemas.openxmlformats.org/drawingml/2006/main">
              <a:ext uri="{FF2B5EF4-FFF2-40B4-BE49-F238E27FC236}">
                <a16:creationId xmlns:a16="http://schemas.microsoft.com/office/drawing/2014/main" id="{F3C30487-B9D5-4739-B016-E9AEADFC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gest-num-0">
            <a:extLst xmlns:a="http://schemas.openxmlformats.org/drawingml/2006/main">
              <a:ext uri="{FF2B5EF4-FFF2-40B4-BE49-F238E27FC236}">
                <a16:creationId xmlns:a16="http://schemas.microsoft.com/office/drawing/2014/main" id="{7998DA84-C071-4D5D-982E-769EE2D8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ingest-title-0">
            <a:extLst xmlns:a="http://schemas.openxmlformats.org/drawingml/2006/main">
              <a:ext uri="{FF2B5EF4-FFF2-40B4-BE49-F238E27FC236}">
                <a16:creationId xmlns:a16="http://schemas.microsoft.com/office/drawing/2014/main" id="{C6753667-E425-49C1-B610-99D259BD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11" name="ingest-body-0">
            <a:extLst xmlns:a="http://schemas.openxmlformats.org/drawingml/2006/main">
              <a:ext uri="{FF2B5EF4-FFF2-40B4-BE49-F238E27FC236}">
                <a16:creationId xmlns:a16="http://schemas.microsoft.com/office/drawing/2014/main" id="{5897492C-254C-4E52-9DF0-D735F71F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扩展名 / MIME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文件签名 / ZIP 安全</a:t>
            </a:r>
          </a:p>
        </p:txBody>
      </p:sp>
      <p:sp>
        <p:nvSpPr>
          <p:cNvPr id="12" name="ingest-node-1">
            <a:extLst xmlns:a="http://schemas.openxmlformats.org/drawingml/2006/main">
              <a:ext uri="{FF2B5EF4-FFF2-40B4-BE49-F238E27FC236}">
                <a16:creationId xmlns:a16="http://schemas.microsoft.com/office/drawing/2014/main" id="{9937C48C-AEE7-440F-9AAD-89892C1F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gest-num-1">
            <a:extLst xmlns:a="http://schemas.openxmlformats.org/drawingml/2006/main">
              <a:ext uri="{FF2B5EF4-FFF2-40B4-BE49-F238E27FC236}">
                <a16:creationId xmlns:a16="http://schemas.microsoft.com/office/drawing/2014/main" id="{E931FC0A-48A1-470C-B1D6-1A6FF9F2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ingest-title-1">
            <a:extLst xmlns:a="http://schemas.openxmlformats.org/drawingml/2006/main">
              <a:ext uri="{FF2B5EF4-FFF2-40B4-BE49-F238E27FC236}">
                <a16:creationId xmlns:a16="http://schemas.microsoft.com/office/drawing/2014/main" id="{151DD937-7DC1-49E6-B893-F3A2319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5" name="ingest-body-1">
            <a:extLst xmlns:a="http://schemas.openxmlformats.org/drawingml/2006/main">
              <a:ext uri="{FF2B5EF4-FFF2-40B4-BE49-F238E27FC236}">
                <a16:creationId xmlns:a16="http://schemas.microsoft.com/office/drawing/2014/main" id="{14BBF572-9226-40F3-BDBF-1AE396F8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PyMuPDF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OCR 或视觉引擎</a:t>
            </a:r>
          </a:p>
        </p:txBody>
      </p:sp>
      <p:sp>
        <p:nvSpPr>
          <p:cNvPr id="16" name="ingest-node-2">
            <a:extLst xmlns:a="http://schemas.openxmlformats.org/drawingml/2006/main">
              <a:ext uri="{FF2B5EF4-FFF2-40B4-BE49-F238E27FC236}">
                <a16:creationId xmlns:a16="http://schemas.microsoft.com/office/drawing/2014/main" id="{CF9AAD71-A0C4-4D23-8BAE-2026630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gest-num-2">
            <a:extLst xmlns:a="http://schemas.openxmlformats.org/drawingml/2006/main">
              <a:ext uri="{FF2B5EF4-FFF2-40B4-BE49-F238E27FC236}">
                <a16:creationId xmlns:a16="http://schemas.microsoft.com/office/drawing/2014/main" id="{C4CDC76E-1AE9-4741-8A11-44A567C1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ingest-title-2">
            <a:extLst xmlns:a="http://schemas.openxmlformats.org/drawingml/2006/main">
              <a:ext uri="{FF2B5EF4-FFF2-40B4-BE49-F238E27FC236}">
                <a16:creationId xmlns:a16="http://schemas.microsoft.com/office/drawing/2014/main" id="{855D756A-6E97-4B6D-85B1-46D40FED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切片</a:t>
            </a:r>
          </a:p>
        </p:txBody>
      </p:sp>
      <p:sp>
        <p:nvSpPr>
          <p:cNvPr id="19" name="ingest-body-2">
            <a:extLst xmlns:a="http://schemas.openxmlformats.org/drawingml/2006/main">
              <a:ext uri="{FF2B5EF4-FFF2-40B4-BE49-F238E27FC236}">
                <a16:creationId xmlns:a16="http://schemas.microsoft.com/office/drawing/2014/main" id="{C07FA3BF-4939-4664-B03A-0DC4B89B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章节优先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500 字 + 50 重叠</a:t>
            </a:r>
          </a:p>
        </p:txBody>
      </p:sp>
      <p:sp>
        <p:nvSpPr>
          <p:cNvPr id="20" name="ingest-node-3">
            <a:extLst xmlns:a="http://schemas.openxmlformats.org/drawingml/2006/main">
              <a:ext uri="{FF2B5EF4-FFF2-40B4-BE49-F238E27FC236}">
                <a16:creationId xmlns:a16="http://schemas.microsoft.com/office/drawing/2014/main" id="{B3B5783F-7F56-43C7-B1F8-52EBEEE3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ngest-num-3">
            <a:extLst xmlns:a="http://schemas.openxmlformats.org/drawingml/2006/main">
              <a:ext uri="{FF2B5EF4-FFF2-40B4-BE49-F238E27FC236}">
                <a16:creationId xmlns:a16="http://schemas.microsoft.com/office/drawing/2014/main" id="{097C2D09-086A-4AAD-967B-DF54FD25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ingest-title-3">
            <a:extLst xmlns:a="http://schemas.openxmlformats.org/drawingml/2006/main">
              <a:ext uri="{FF2B5EF4-FFF2-40B4-BE49-F238E27FC236}">
                <a16:creationId xmlns:a16="http://schemas.microsoft.com/office/drawing/2014/main" id="{014431E4-07FB-45FC-A191-D4B91C32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23" name="ingest-body-3">
            <a:extLst xmlns:a="http://schemas.openxmlformats.org/drawingml/2006/main">
              <a:ext uri="{FF2B5EF4-FFF2-40B4-BE49-F238E27FC236}">
                <a16:creationId xmlns:a16="http://schemas.microsoft.com/office/drawing/2014/main" id="{17F510DD-3644-472F-BB65-9F09C298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BGE embedding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写入 Chroma</a:t>
            </a:r>
          </a:p>
        </p:txBody>
      </p:sp>
      <p:sp>
        <p:nvSpPr>
          <p:cNvPr id="24" name="ingest-node-4">
            <a:extLst xmlns:a="http://schemas.openxmlformats.org/drawingml/2006/main">
              <a:ext uri="{FF2B5EF4-FFF2-40B4-BE49-F238E27FC236}">
                <a16:creationId xmlns:a16="http://schemas.microsoft.com/office/drawing/2014/main" id="{6FCF1911-FA70-4560-A6CF-A725F2CF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ingest-num-4">
            <a:extLst xmlns:a="http://schemas.openxmlformats.org/drawingml/2006/main">
              <a:ext uri="{FF2B5EF4-FFF2-40B4-BE49-F238E27FC236}">
                <a16:creationId xmlns:a16="http://schemas.microsoft.com/office/drawing/2014/main" id="{CD1398D7-5D7B-4487-8486-911D182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ingest-title-4">
            <a:extLst xmlns:a="http://schemas.openxmlformats.org/drawingml/2006/main">
              <a:ext uri="{FF2B5EF4-FFF2-40B4-BE49-F238E27FC236}">
                <a16:creationId xmlns:a16="http://schemas.microsoft.com/office/drawing/2014/main" id="{4FD6171C-FA63-4B37-99F0-3CE4D613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就绪</a:t>
            </a:r>
          </a:p>
        </p:txBody>
      </p:sp>
      <p:sp>
        <p:nvSpPr>
          <p:cNvPr id="27" name="ingest-body-4">
            <a:extLst xmlns:a="http://schemas.openxmlformats.org/drawingml/2006/main">
              <a:ext uri="{FF2B5EF4-FFF2-40B4-BE49-F238E27FC236}">
                <a16:creationId xmlns:a16="http://schemas.microsoft.com/office/drawing/2014/main" id="{8C1ECC2F-CF19-422C-BAD0-A720BD7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记录页数、耗时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chunk 数与引擎</a:t>
            </a:r>
          </a:p>
        </p:txBody>
      </p:sp>
      <p:cxnSp>
        <p:nvCxnSpPr>
          <p:cNvPr id="90" name="ingest-rule"/>
          <p:cNvCxnSpPr/>
          <p:nvPr/>
        </p:nvCxnSpPr>
        <p:spPr>
          <a:xfrm xmlns:a="http://schemas.openxmlformats.org/drawingml/2006/main">
            <a:off x="495300" y="47625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ingest-dedup-title">
            <a:extLst xmlns:a="http://schemas.openxmlformats.org/drawingml/2006/main">
              <a:ext uri="{FF2B5EF4-FFF2-40B4-BE49-F238E27FC236}">
                <a16:creationId xmlns:a16="http://schemas.microsoft.com/office/drawing/2014/main" id="{4222ED5A-174A-4552-B7A9-73956131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去重</a:t>
            </a:r>
          </a:p>
        </p:txBody>
      </p:sp>
      <p:sp>
        <p:nvSpPr>
          <p:cNvPr id="30" name="ingest-dedup-body">
            <a:extLst xmlns:a="http://schemas.openxmlformats.org/drawingml/2006/main">
              <a:ext uri="{FF2B5EF4-FFF2-40B4-BE49-F238E27FC236}">
                <a16:creationId xmlns:a16="http://schemas.microsoft.com/office/drawing/2014/main" id="{7C76E372-7DE1-4E88-AFC2-C5FBB444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SHA‑256 复用已就绪文件</a:t>
            </a:r>
          </a:p>
        </p:txBody>
      </p:sp>
      <p:sp>
        <p:nvSpPr>
          <p:cNvPr id="31" name="ingest-state-title">
            <a:extLst xmlns:a="http://schemas.openxmlformats.org/drawingml/2006/main">
              <a:ext uri="{FF2B5EF4-FFF2-40B4-BE49-F238E27FC236}">
                <a16:creationId xmlns:a16="http://schemas.microsoft.com/office/drawing/2014/main" id="{EFAF3A9F-47BB-402E-BFA7-C4C8431A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32" name="ingest-state-body">
            <a:extLst xmlns:a="http://schemas.openxmlformats.org/drawingml/2006/main">
              <a:ext uri="{FF2B5EF4-FFF2-40B4-BE49-F238E27FC236}">
                <a16:creationId xmlns:a16="http://schemas.microsoft.com/office/drawing/2014/main" id="{1E0AB88D-DE1D-49C8-84FC-7B3042A2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10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uploaded → parsing → indexing → ready / failed</a:t>
            </a:r>
          </a:p>
        </p:txBody>
      </p:sp>
      <p:sp>
        <p:nvSpPr>
          <p:cNvPr id="33" name="ingest-comp-title">
            <a:extLst xmlns:a="http://schemas.openxmlformats.org/drawingml/2006/main">
              <a:ext uri="{FF2B5EF4-FFF2-40B4-BE49-F238E27FC236}">
                <a16:creationId xmlns:a16="http://schemas.microsoft.com/office/drawing/2014/main" id="{D9F831ED-7511-4912-8012-2499AF9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补偿</a:t>
            </a:r>
          </a:p>
        </p:txBody>
      </p:sp>
      <p:sp>
        <p:nvSpPr>
          <p:cNvPr id="34" name="ingest-comp-body">
            <a:extLst xmlns:a="http://schemas.openxmlformats.org/drawingml/2006/main">
              <a:ext uri="{FF2B5EF4-FFF2-40B4-BE49-F238E27FC236}">
                <a16:creationId xmlns:a16="http://schemas.microsoft.com/office/drawing/2014/main" id="{594D8B41-21BE-4943-AF1D-948ED14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失败按 file_id 清理孤儿向量</a:t>
            </a:r>
          </a:p>
        </p:txBody>
      </p:sp>
    </p:spTree>
    <p:extLst>
      <p:ext uri="{BB962C8B-B14F-4D97-AF65-F5344CB8AC3E}">
        <p14:creationId xmlns:p14="http://schemas.microsoft.com/office/powerpoint/2010/main" val="1318612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C9E1DADB-B927-45F3-AD38-6834BDE4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 · RAG 问答链路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3AB3C0C-3042-4B73-B4B9-00FA6AF7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答案可信度来自“混合检索 + 证据门槛 + 可点击引用”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19E51820-BD6F-462F-8246-86F6888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retrieval-num-0">
            <a:extLst xmlns:a="http://schemas.openxmlformats.org/drawingml/2006/main">
              <a:ext uri="{FF2B5EF4-FFF2-40B4-BE49-F238E27FC236}">
                <a16:creationId xmlns:a16="http://schemas.microsoft.com/office/drawing/2014/main" id="{A226A3A1-B071-4073-B5E9-5982F4F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retrieval-title-0">
            <a:extLst xmlns:a="http://schemas.openxmlformats.org/drawingml/2006/main">
              <a:ext uri="{FF2B5EF4-FFF2-40B4-BE49-F238E27FC236}">
                <a16:creationId xmlns:a16="http://schemas.microsoft.com/office/drawing/2014/main" id="{4F4B140B-F761-48D2-85EC-22C0C8A6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95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范围过滤</a:t>
            </a:r>
          </a:p>
        </p:txBody>
      </p:sp>
      <p:sp>
        <p:nvSpPr>
          <p:cNvPr id="6" name="retrieval-body-0">
            <a:extLst xmlns:a="http://schemas.openxmlformats.org/drawingml/2006/main">
              <a:ext uri="{FF2B5EF4-FFF2-40B4-BE49-F238E27FC236}">
                <a16:creationId xmlns:a16="http://schemas.microsoft.com/office/drawing/2014/main" id="{E16CB841-D31C-4F1D-986E-2F292E5F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course_id 与 file_ids 先限定检索范围，避免跨课程混入。</a:t>
            </a:r>
          </a:p>
        </p:txBody>
      </p:sp>
      <p:sp>
        <p:nvSpPr>
          <p:cNvPr id="7" name="retrieval-num-1">
            <a:extLst xmlns:a="http://schemas.openxmlformats.org/drawingml/2006/main">
              <a:ext uri="{FF2B5EF4-FFF2-40B4-BE49-F238E27FC236}">
                <a16:creationId xmlns:a16="http://schemas.microsoft.com/office/drawing/2014/main" id="{B309612F-ED82-46C5-87CD-873789F4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retrieval-title-1">
            <a:extLst xmlns:a="http://schemas.openxmlformats.org/drawingml/2006/main">
              <a:ext uri="{FF2B5EF4-FFF2-40B4-BE49-F238E27FC236}">
                <a16:creationId xmlns:a16="http://schemas.microsoft.com/office/drawing/2014/main" id="{FC75BD4A-AEC4-48C6-952E-95DF0F2E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混合召回</a:t>
            </a:r>
          </a:p>
        </p:txBody>
      </p:sp>
      <p:sp>
        <p:nvSpPr>
          <p:cNvPr id="9" name="retrieval-body-1">
            <a:extLst xmlns:a="http://schemas.openxmlformats.org/drawingml/2006/main">
              <a:ext uri="{FF2B5EF4-FFF2-40B4-BE49-F238E27FC236}">
                <a16:creationId xmlns:a16="http://schemas.microsoft.com/office/drawing/2014/main" id="{65E031E2-EC29-4EB4-9104-39D38E3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52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Chroma 向量 Top 10 与 BM25 / 查询覆盖率共同计分。</a:t>
            </a:r>
          </a:p>
        </p:txBody>
      </p:sp>
      <p:sp>
        <p:nvSpPr>
          <p:cNvPr id="10" name="retrieval-num-2">
            <a:extLst xmlns:a="http://schemas.openxmlformats.org/drawingml/2006/main">
              <a:ext uri="{FF2B5EF4-FFF2-40B4-BE49-F238E27FC236}">
                <a16:creationId xmlns:a16="http://schemas.microsoft.com/office/drawing/2014/main" id="{2B924D57-EED5-49DE-B0EC-EA9C4958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retrieval-title-2">
            <a:extLst xmlns:a="http://schemas.openxmlformats.org/drawingml/2006/main">
              <a:ext uri="{FF2B5EF4-FFF2-40B4-BE49-F238E27FC236}">
                <a16:creationId xmlns:a16="http://schemas.microsoft.com/office/drawing/2014/main" id="{05630138-1B17-405D-969A-4211B9DE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质量筛选</a:t>
            </a:r>
          </a:p>
        </p:txBody>
      </p:sp>
      <p:sp>
        <p:nvSpPr>
          <p:cNvPr id="12" name="retrieval-body-2">
            <a:extLst xmlns:a="http://schemas.openxmlformats.org/drawingml/2006/main">
              <a:ext uri="{FF2B5EF4-FFF2-40B4-BE49-F238E27FC236}">
                <a16:creationId xmlns:a16="http://schemas.microsoft.com/office/drawing/2014/main" id="{04E5C40C-500E-4747-B13C-454E2AE4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MMR 去重，可选 CrossEncoder；最低相关度默认 0.55。</a:t>
            </a:r>
          </a:p>
        </p:txBody>
      </p:sp>
      <p:sp>
        <p:nvSpPr>
          <p:cNvPr id="13" name="retrieval-num-3">
            <a:extLst xmlns:a="http://schemas.openxmlformats.org/drawingml/2006/main">
              <a:ext uri="{FF2B5EF4-FFF2-40B4-BE49-F238E27FC236}">
                <a16:creationId xmlns:a16="http://schemas.microsoft.com/office/drawing/2014/main" id="{20FD50DF-101D-4263-8A97-EBE98C8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retrieval-title-3">
            <a:extLst xmlns:a="http://schemas.openxmlformats.org/drawingml/2006/main">
              <a:ext uri="{FF2B5EF4-FFF2-40B4-BE49-F238E27FC236}">
                <a16:creationId xmlns:a16="http://schemas.microsoft.com/office/drawing/2014/main" id="{B4879CB9-E95B-4C52-801C-8FF49143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来源追踪</a:t>
            </a:r>
          </a:p>
        </p:txBody>
      </p:sp>
      <p:sp>
        <p:nvSpPr>
          <p:cNvPr id="15" name="retrieval-body-3">
            <a:extLst xmlns:a="http://schemas.openxmlformats.org/drawingml/2006/main">
              <a:ext uri="{FF2B5EF4-FFF2-40B4-BE49-F238E27FC236}">
                <a16:creationId xmlns:a16="http://schemas.microsoft.com/office/drawing/2014/main" id="{751C5E88-5245-4415-B69A-2C0F0A0A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最终 Top 3 保留页码、幻灯片、章节、引擎与文件来源。</a:t>
            </a:r>
          </a:p>
        </p:txBody>
      </p:sp>
      <p:sp>
        <p:nvSpPr>
          <p:cNvPr id="16" name="retrieval-outcome">
            <a:extLst xmlns:a="http://schemas.openxmlformats.org/drawingml/2006/main">
              <a:ext uri="{FF2B5EF4-FFF2-40B4-BE49-F238E27FC236}">
                <a16:creationId xmlns:a16="http://schemas.microsoft.com/office/drawing/2014/main" id="{9323AF7F-D717-40B6-A247-19FDEF23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201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trieval-outcome-text">
            <a:extLst xmlns:a="http://schemas.openxmlformats.org/drawingml/2006/main">
              <a:ext uri="{FF2B5EF4-FFF2-40B4-BE49-F238E27FC236}">
                <a16:creationId xmlns:a16="http://schemas.microsoft.com/office/drawing/2014/main" id="{EAEB46A7-6636-41DB-B528-348888C1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资料不足 → 明确返回“没有足够依据”    |    资料充分 → 注入上下文，再流式调用大模型生成答案</a:t>
            </a:r>
          </a:p>
        </p:txBody>
      </p:sp>
    </p:spTree>
    <p:extLst>
      <p:ext uri="{BB962C8B-B14F-4D97-AF65-F5344CB8AC3E}">
        <p14:creationId xmlns:p14="http://schemas.microsoft.com/office/powerpoint/2010/main" val="500422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AA82566A-86AD-4E8B-87E5-18C1A069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 · 文档解析策略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F00ADBB-A11D-4E9A-B8E2-0F96D30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同一条管线兼容 6 类资料，复杂 PDF 按需升级解析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2583EFCD-A7BD-4619-B6EF-379BAC79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cxnSp>
        <p:nvCxnSpPr>
          <p:cNvPr id="28" name="parse-timeline"/>
          <p:cNvCxnSpPr/>
          <p:nvPr/>
        </p:nvCxnSpPr>
        <p:spPr>
          <a:xfrm xmlns:a="http://schemas.openxmlformats.org/drawingml/2006/main">
            <a:off x="914400" y="4933950"/>
            <a:ext cx="10363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parse-card-0">
            <a:extLst xmlns:a="http://schemas.openxmlformats.org/drawingml/2006/main">
              <a:ext uri="{FF2B5EF4-FFF2-40B4-BE49-F238E27FC236}">
                <a16:creationId xmlns:a16="http://schemas.microsoft.com/office/drawing/2014/main" id="{DBE8299F-BB4C-4B45-9584-FD7E4148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3048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arse-card-title-0">
            <a:extLst xmlns:a="http://schemas.openxmlformats.org/drawingml/2006/main">
              <a:ext uri="{FF2B5EF4-FFF2-40B4-BE49-F238E27FC236}">
                <a16:creationId xmlns:a16="http://schemas.microsoft.com/office/drawing/2014/main" id="{CE001456-FBC6-4EF6-BF33-4E5F84D1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轻量原生解析</a:t>
            </a:r>
          </a:p>
        </p:txBody>
      </p:sp>
      <p:sp>
        <p:nvSpPr>
          <p:cNvPr id="7" name="parse-card-body-0">
            <a:extLst xmlns:a="http://schemas.openxmlformats.org/drawingml/2006/main">
              <a:ext uri="{FF2B5EF4-FFF2-40B4-BE49-F238E27FC236}">
                <a16:creationId xmlns:a16="http://schemas.microsoft.com/office/drawing/2014/main" id="{A8098845-9CF8-4440-BBB7-7D761BAE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2590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PDF / DOCX / PPTX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Markdown / HTML / 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优先使用格式原生结构，速度快、依赖轻。</a:t>
            </a:r>
          </a:p>
        </p:txBody>
      </p:sp>
      <p:sp>
        <p:nvSpPr>
          <p:cNvPr id="8" name="parse-dot-0">
            <a:extLst xmlns:a="http://schemas.openxmlformats.org/drawingml/2006/main">
              <a:ext uri="{FF2B5EF4-FFF2-40B4-BE49-F238E27FC236}">
                <a16:creationId xmlns:a16="http://schemas.microsoft.com/office/drawing/2014/main" id="{90DE16B3-3766-4820-A0E2-A5F52EE8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se-label-0">
            <a:extLst xmlns:a="http://schemas.openxmlformats.org/drawingml/2006/main">
              <a:ext uri="{FF2B5EF4-FFF2-40B4-BE49-F238E27FC236}">
                <a16:creationId xmlns:a16="http://schemas.microsoft.com/office/drawing/2014/main" id="{965A9045-6036-4C6D-9F8C-1B8E5AE9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默认</a:t>
            </a:r>
          </a:p>
        </p:txBody>
      </p:sp>
      <p:sp>
        <p:nvSpPr>
          <p:cNvPr id="10" name="parse-card-1">
            <a:extLst xmlns:a="http://schemas.openxmlformats.org/drawingml/2006/main">
              <a:ext uri="{FF2B5EF4-FFF2-40B4-BE49-F238E27FC236}">
                <a16:creationId xmlns:a16="http://schemas.microsoft.com/office/drawing/2014/main" id="{FCA2F90B-778A-440E-82D4-7D5AE08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71650"/>
            <a:ext cx="3048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arse-card-title-1">
            <a:extLst xmlns:a="http://schemas.openxmlformats.org/drawingml/2006/main">
              <a:ext uri="{FF2B5EF4-FFF2-40B4-BE49-F238E27FC236}">
                <a16:creationId xmlns:a16="http://schemas.microsoft.com/office/drawing/2014/main" id="{1E9DEA90-5767-48B2-A46A-65E8E0C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扫描页自动兜底</a:t>
            </a:r>
          </a:p>
        </p:txBody>
      </p:sp>
      <p:sp>
        <p:nvSpPr>
          <p:cNvPr id="12" name="parse-card-body-1">
            <a:extLst xmlns:a="http://schemas.openxmlformats.org/drawingml/2006/main">
              <a:ext uri="{FF2B5EF4-FFF2-40B4-BE49-F238E27FC236}">
                <a16:creationId xmlns:a16="http://schemas.microsoft.com/office/drawing/2014/main" id="{75B38CAB-F2F6-4789-8A94-0019B701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2590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PyMuPDF 发现页面无有效文本时，自动调用内置 Tesseract 中文 OCR。</a:t>
            </a:r>
          </a:p>
        </p:txBody>
      </p:sp>
      <p:sp>
        <p:nvSpPr>
          <p:cNvPr id="13" name="parse-dot-1">
            <a:extLst xmlns:a="http://schemas.openxmlformats.org/drawingml/2006/main">
              <a:ext uri="{FF2B5EF4-FFF2-40B4-BE49-F238E27FC236}">
                <a16:creationId xmlns:a16="http://schemas.microsoft.com/office/drawing/2014/main" id="{05561696-D314-4B0E-9EA8-BC8425AA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rse-label-1">
            <a:extLst xmlns:a="http://schemas.openxmlformats.org/drawingml/2006/main">
              <a:ext uri="{FF2B5EF4-FFF2-40B4-BE49-F238E27FC236}">
                <a16:creationId xmlns:a16="http://schemas.microsoft.com/office/drawing/2014/main" id="{F5FAD99A-31EE-4395-AF1F-2DEEE8DA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19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按页</a:t>
            </a:r>
          </a:p>
        </p:txBody>
      </p:sp>
      <p:sp>
        <p:nvSpPr>
          <p:cNvPr id="15" name="parse-card-2">
            <a:extLst xmlns:a="http://schemas.openxmlformats.org/drawingml/2006/main">
              <a:ext uri="{FF2B5EF4-FFF2-40B4-BE49-F238E27FC236}">
                <a16:creationId xmlns:a16="http://schemas.microsoft.com/office/drawing/2014/main" id="{3BB74F0C-DDB7-4C10-A93A-5F0272F6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71650"/>
            <a:ext cx="3048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parse-card-title-2">
            <a:extLst xmlns:a="http://schemas.openxmlformats.org/drawingml/2006/main">
              <a:ext uri="{FF2B5EF4-FFF2-40B4-BE49-F238E27FC236}">
                <a16:creationId xmlns:a16="http://schemas.microsoft.com/office/drawing/2014/main" id="{F3D5FA98-75C5-49D3-BC2A-F68DBCCD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复杂版面视觉解析</a:t>
            </a:r>
          </a:p>
        </p:txBody>
      </p:sp>
      <p:sp>
        <p:nvSpPr>
          <p:cNvPr id="17" name="parse-card-body-2">
            <a:extLst xmlns:a="http://schemas.openxmlformats.org/drawingml/2006/main">
              <a:ext uri="{FF2B5EF4-FFF2-40B4-BE49-F238E27FC236}">
                <a16:creationId xmlns:a16="http://schemas.microsoft.com/office/drawing/2014/main" id="{599A10DD-F215-43F4-B933-51DA2CE5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590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Marker / MinerU 按需安装；支持 CPU/GPU、完整性检查、真实 PDF 探针与超时回收。</a:t>
            </a:r>
          </a:p>
        </p:txBody>
      </p:sp>
      <p:sp>
        <p:nvSpPr>
          <p:cNvPr id="18" name="parse-dot-2">
            <a:extLst xmlns:a="http://schemas.openxmlformats.org/drawingml/2006/main">
              <a:ext uri="{FF2B5EF4-FFF2-40B4-BE49-F238E27FC236}">
                <a16:creationId xmlns:a16="http://schemas.microsoft.com/office/drawing/2014/main" id="{366BE65D-F9B1-4C38-8608-3BAD09E3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57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se-label-2">
            <a:extLst xmlns:a="http://schemas.openxmlformats.org/drawingml/2006/main">
              <a:ext uri="{FF2B5EF4-FFF2-40B4-BE49-F238E27FC236}">
                <a16:creationId xmlns:a16="http://schemas.microsoft.com/office/drawing/2014/main" id="{2AB331BA-E619-4DA8-A78E-5AE5848A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可选</a:t>
            </a:r>
          </a:p>
        </p:txBody>
      </p:sp>
      <p:sp>
        <p:nvSpPr>
          <p:cNvPr id="20" name="parse-unified">
            <a:extLst xmlns:a="http://schemas.openxmlformats.org/drawingml/2006/main">
              <a:ext uri="{FF2B5EF4-FFF2-40B4-BE49-F238E27FC236}">
                <a16:creationId xmlns:a16="http://schemas.microsoft.com/office/drawing/2014/main" id="{677923D4-23DB-44C8-8BD9-332F9161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所有解析器最终统一输出 text / section / location_type / location_index，进入同一切片、检索与引用流程。</a:t>
            </a:r>
          </a:p>
        </p:txBody>
      </p:sp>
    </p:spTree>
    <p:extLst>
      <p:ext uri="{BB962C8B-B14F-4D97-AF65-F5344CB8AC3E}">
        <p14:creationId xmlns:p14="http://schemas.microsoft.com/office/powerpoint/2010/main" val="857666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161300AC-753F-4DC8-8CBB-07818CE1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 · 桌面交付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B78E904-3307-42DF-998A-1B702776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Electron 将项目封装为无需预装环境的 Windows 应用</a:t>
            </a:r>
          </a:p>
        </p:txBody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E7EA75C6-895E-4FFE-9890-484C11AE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cxnSp>
        <p:nvCxnSpPr>
          <p:cNvPr id="28" name="desktop-line"/>
          <p:cNvCxnSpPr/>
          <p:nvPr/>
        </p:nvCxnSpPr>
        <p:spPr>
          <a:xfrm xmlns:a="http://schemas.openxmlformats.org/drawingml/2006/main">
            <a:off x="685800" y="53340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desktop-card-0">
            <a:extLst xmlns:a="http://schemas.openxmlformats.org/drawingml/2006/main">
              <a:ext uri="{FF2B5EF4-FFF2-40B4-BE49-F238E27FC236}">
                <a16:creationId xmlns:a16="http://schemas.microsoft.com/office/drawing/2014/main" id="{7F99CA6A-6C58-4E3C-AA11-02EF9ECF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desktop-title-0">
            <a:extLst xmlns:a="http://schemas.openxmlformats.org/drawingml/2006/main">
              <a:ext uri="{FF2B5EF4-FFF2-40B4-BE49-F238E27FC236}">
                <a16:creationId xmlns:a16="http://schemas.microsoft.com/office/drawing/2014/main" id="{512346EA-860D-4CE6-B695-A701EFF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构建私有运行时</a:t>
            </a:r>
          </a:p>
        </p:txBody>
      </p:sp>
      <p:sp>
        <p:nvSpPr>
          <p:cNvPr id="7" name="desktop-body-0">
            <a:extLst xmlns:a="http://schemas.openxmlformats.org/drawingml/2006/main">
              <a:ext uri="{FF2B5EF4-FFF2-40B4-BE49-F238E27FC236}">
                <a16:creationId xmlns:a16="http://schemas.microsoft.com/office/drawing/2014/main" id="{39168726-EEB6-4CD6-82C5-5D25F31C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下载嵌入式 Python，安装后端依赖与基础 BGE 模型，离线导入验证后生成 runtime tar。</a:t>
            </a:r>
          </a:p>
        </p:txBody>
      </p:sp>
      <p:sp>
        <p:nvSpPr>
          <p:cNvPr id="8" name="desktop-dot-0">
            <a:extLst xmlns:a="http://schemas.openxmlformats.org/drawingml/2006/main">
              <a:ext uri="{FF2B5EF4-FFF2-40B4-BE49-F238E27FC236}">
                <a16:creationId xmlns:a16="http://schemas.microsoft.com/office/drawing/2014/main" id="{71340774-592E-4E74-9A62-41AD4F7C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sktop-label-0">
            <a:extLst xmlns:a="http://schemas.openxmlformats.org/drawingml/2006/main">
              <a:ext uri="{FF2B5EF4-FFF2-40B4-BE49-F238E27FC236}">
                <a16:creationId xmlns:a16="http://schemas.microsoft.com/office/drawing/2014/main" id="{559B76A6-7C52-4E6F-AEB6-1D4D529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构建阶段</a:t>
            </a:r>
          </a:p>
        </p:txBody>
      </p:sp>
      <p:sp>
        <p:nvSpPr>
          <p:cNvPr id="10" name="desktop-card-1">
            <a:extLst xmlns:a="http://schemas.openxmlformats.org/drawingml/2006/main">
              <a:ext uri="{FF2B5EF4-FFF2-40B4-BE49-F238E27FC236}">
                <a16:creationId xmlns:a16="http://schemas.microsoft.com/office/drawing/2014/main" id="{992294E9-7374-46FC-8C94-EE44FB5C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desktop-title-1">
            <a:extLst xmlns:a="http://schemas.openxmlformats.org/drawingml/2006/main">
              <a:ext uri="{FF2B5EF4-FFF2-40B4-BE49-F238E27FC236}">
                <a16:creationId xmlns:a16="http://schemas.microsoft.com/office/drawing/2014/main" id="{3FBEFC84-8675-41CD-B66C-7781EC57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首次启动释放资源</a:t>
            </a:r>
          </a:p>
        </p:txBody>
      </p:sp>
      <p:sp>
        <p:nvSpPr>
          <p:cNvPr id="12" name="desktop-body-1">
            <a:extLst xmlns:a="http://schemas.openxmlformats.org/drawingml/2006/main">
              <a:ext uri="{FF2B5EF4-FFF2-40B4-BE49-F238E27FC236}">
                <a16:creationId xmlns:a16="http://schemas.microsoft.com/office/drawing/2014/main" id="{E9EFB553-B92E-4276-B4CB-0EB4626C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比较 runtime manifest，将 Python、模型与数据目录释放到用户数据目录。</a:t>
            </a:r>
          </a:p>
        </p:txBody>
      </p:sp>
      <p:sp>
        <p:nvSpPr>
          <p:cNvPr id="13" name="desktop-dot-1">
            <a:extLst xmlns:a="http://schemas.openxmlformats.org/drawingml/2006/main">
              <a:ext uri="{FF2B5EF4-FFF2-40B4-BE49-F238E27FC236}">
                <a16:creationId xmlns:a16="http://schemas.microsoft.com/office/drawing/2014/main" id="{AE67F3E1-FE7F-49B4-A54B-7788C560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sktop-label-1">
            <a:extLst xmlns:a="http://schemas.openxmlformats.org/drawingml/2006/main">
              <a:ext uri="{FF2B5EF4-FFF2-40B4-BE49-F238E27FC236}">
                <a16:creationId xmlns:a16="http://schemas.microsoft.com/office/drawing/2014/main" id="{83F872F5-594D-4573-BD83-01F06C20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81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首次启动</a:t>
            </a:r>
          </a:p>
        </p:txBody>
      </p:sp>
      <p:sp>
        <p:nvSpPr>
          <p:cNvPr id="15" name="desktop-card-2">
            <a:extLst xmlns:a="http://schemas.openxmlformats.org/drawingml/2006/main">
              <a:ext uri="{FF2B5EF4-FFF2-40B4-BE49-F238E27FC236}">
                <a16:creationId xmlns:a16="http://schemas.microsoft.com/office/drawing/2014/main" id="{DC0EDF09-B91D-4A3E-BC07-DEFDECDB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desktop-title-2">
            <a:extLst xmlns:a="http://schemas.openxmlformats.org/drawingml/2006/main">
              <a:ext uri="{FF2B5EF4-FFF2-40B4-BE49-F238E27FC236}">
                <a16:creationId xmlns:a16="http://schemas.microsoft.com/office/drawing/2014/main" id="{2DA57585-9B84-4836-B3B3-F375CEFD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日常启动与回收</a:t>
            </a:r>
          </a:p>
        </p:txBody>
      </p:sp>
      <p:sp>
        <p:nvSpPr>
          <p:cNvPr id="17" name="desktop-body-2">
            <a:extLst xmlns:a="http://schemas.openxmlformats.org/drawingml/2006/main">
              <a:ext uri="{FF2B5EF4-FFF2-40B4-BE49-F238E27FC236}">
                <a16:creationId xmlns:a16="http://schemas.microsoft.com/office/drawing/2014/main" id="{CA03721B-BDE0-45F7-B76C-52E83290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单实例锁 → splash → 启动 FastAPI → 轮询 /api/health → 加载前端；退出时终止后端进程树。</a:t>
            </a:r>
          </a:p>
        </p:txBody>
      </p:sp>
      <p:sp>
        <p:nvSpPr>
          <p:cNvPr id="18" name="desktop-dot-2">
            <a:extLst xmlns:a="http://schemas.openxmlformats.org/drawingml/2006/main">
              <a:ext uri="{FF2B5EF4-FFF2-40B4-BE49-F238E27FC236}">
                <a16:creationId xmlns:a16="http://schemas.microsoft.com/office/drawing/2014/main" id="{4E6DDBCB-987A-4EFA-9CC3-CA4DD2A8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sktop-label-2">
            <a:extLst xmlns:a="http://schemas.openxmlformats.org/drawingml/2006/main">
              <a:ext uri="{FF2B5EF4-FFF2-40B4-BE49-F238E27FC236}">
                <a16:creationId xmlns:a16="http://schemas.microsoft.com/office/drawing/2014/main" id="{2D2B0F54-31AD-4F4F-932D-A66A06FD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81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每次启动</a:t>
            </a:r>
          </a:p>
        </p:txBody>
      </p:sp>
      <p:sp>
        <p:nvSpPr>
          <p:cNvPr id="20" name="desktop-note">
            <a:extLst xmlns:a="http://schemas.openxmlformats.org/drawingml/2006/main">
              <a:ext uri="{FF2B5EF4-FFF2-40B4-BE49-F238E27FC236}">
                <a16:creationId xmlns:a16="http://schemas.microsoft.com/office/drawing/2014/main" id="{5EEB4948-BF8A-4020-BB18-BE713CC2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交付形态：electron-builder + NSIS x64，一键安装、创建桌面/开始菜单快捷方式，卸载默认保留用户知识库。</a:t>
            </a:r>
          </a:p>
        </p:txBody>
      </p:sp>
    </p:spTree>
    <p:extLst>
      <p:ext uri="{BB962C8B-B14F-4D97-AF65-F5344CB8AC3E}">
        <p14:creationId xmlns:p14="http://schemas.microsoft.com/office/powerpoint/2010/main" val="1314075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">
            <a:extLst xmlns:a="http://schemas.openxmlformats.org/drawingml/2006/main">
              <a:ext uri="{FF2B5EF4-FFF2-40B4-BE49-F238E27FC236}">
                <a16:creationId xmlns:a16="http://schemas.microsoft.com/office/drawing/2014/main" id="{C7110990-FBC8-47B7-986B-44A92BD3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 · 完成度与验证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BCB6377-EE94-4B35-8A6B-5D17B868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工程质量体现在“能构建、可恢复、边界清楚”</a:t>
            </a:r>
          </a:p>
        </p:txBody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8B0E9504-2110-426B-A29F-3A2FE58B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metric-files-value">
            <a:extLst xmlns:a="http://schemas.openxmlformats.org/drawingml/2006/main">
              <a:ext uri="{FF2B5EF4-FFF2-40B4-BE49-F238E27FC236}">
                <a16:creationId xmlns:a16="http://schemas.microsoft.com/office/drawing/2014/main" id="{BB3F8DDB-6E69-4917-963D-536ADCFA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5" name="metric-files-label">
            <a:extLst xmlns:a="http://schemas.openxmlformats.org/drawingml/2006/main">
              <a:ext uri="{FF2B5EF4-FFF2-40B4-BE49-F238E27FC236}">
                <a16:creationId xmlns:a16="http://schemas.microsoft.com/office/drawing/2014/main" id="{C951A799-6AAB-4565-9E52-0B95BD6F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个自有 Python / Vue / JS 源文件</a:t>
            </a:r>
          </a:p>
        </p:txBody>
      </p:sp>
      <p:sp>
        <p:nvSpPr>
          <p:cNvPr id="6" name="metric-lines-value">
            <a:extLst xmlns:a="http://schemas.openxmlformats.org/drawingml/2006/main">
              <a:ext uri="{FF2B5EF4-FFF2-40B4-BE49-F238E27FC236}">
                <a16:creationId xmlns:a16="http://schemas.microsoft.com/office/drawing/2014/main" id="{F3902162-852B-4FA8-9A33-08CCAC1C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≈ 7,990</a:t>
            </a:r>
          </a:p>
        </p:txBody>
      </p:sp>
      <p:sp>
        <p:nvSpPr>
          <p:cNvPr id="7" name="metric-lines-label">
            <a:extLst xmlns:a="http://schemas.openxmlformats.org/drawingml/2006/main">
              <a:ext uri="{FF2B5EF4-FFF2-40B4-BE49-F238E27FC236}">
                <a16:creationId xmlns:a16="http://schemas.microsoft.com/office/drawing/2014/main" id="{80B4A818-FA5A-40DC-8142-35EA7DF8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行自有源码（本地统计）</a:t>
            </a:r>
          </a:p>
        </p:txBody>
      </p:sp>
      <p:sp>
        <p:nvSpPr>
          <p:cNvPr id="8" name="metric-routes-value">
            <a:extLst xmlns:a="http://schemas.openxmlformats.org/drawingml/2006/main">
              <a:ext uri="{FF2B5EF4-FFF2-40B4-BE49-F238E27FC236}">
                <a16:creationId xmlns:a16="http://schemas.microsoft.com/office/drawing/2014/main" id="{E6961219-A268-4117-8AEA-5A19F800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9" name="metric-routes-label">
            <a:extLst xmlns:a="http://schemas.openxmlformats.org/drawingml/2006/main">
              <a:ext uri="{FF2B5EF4-FFF2-40B4-BE49-F238E27FC236}">
                <a16:creationId xmlns:a16="http://schemas.microsoft.com/office/drawing/2014/main" id="{4FE89580-6932-4C25-A544-AF95BCB7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个 FastAPI 路由模块</a:t>
            </a:r>
          </a:p>
        </p:txBody>
      </p:sp>
      <p:sp>
        <p:nvSpPr>
          <p:cNvPr id="10" name="metric-build-value">
            <a:extLst xmlns:a="http://schemas.openxmlformats.org/drawingml/2006/main">
              <a:ext uri="{FF2B5EF4-FFF2-40B4-BE49-F238E27FC236}">
                <a16:creationId xmlns:a16="http://schemas.microsoft.com/office/drawing/2014/main" id="{22902EF1-8FBD-4941-91D0-6679F9D7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1,915</a:t>
            </a:r>
          </a:p>
        </p:txBody>
      </p:sp>
      <p:sp>
        <p:nvSpPr>
          <p:cNvPr id="11" name="metric-build-label">
            <a:extLst xmlns:a="http://schemas.openxmlformats.org/drawingml/2006/main">
              <a:ext uri="{FF2B5EF4-FFF2-40B4-BE49-F238E27FC236}">
                <a16:creationId xmlns:a16="http://schemas.microsoft.com/office/drawing/2014/main" id="{A808D157-D306-4A33-8A2E-6169F95B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个前端模块完成生产构建</a:t>
            </a:r>
          </a:p>
        </p:txBody>
      </p:sp>
      <p:cxnSp>
        <p:nvCxnSpPr>
          <p:cNvPr id="53" name="quality-rule"/>
          <p:cNvCxnSpPr/>
          <p:nvPr/>
        </p:nvCxnSpPr>
        <p:spPr>
          <a:xfrm xmlns:a="http://schemas.openxmlformats.org/drawingml/2006/main">
            <a:off x="495300" y="30099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quality-check-0">
            <a:extLst xmlns:a="http://schemas.openxmlformats.org/drawingml/2006/main">
              <a:ext uri="{FF2B5EF4-FFF2-40B4-BE49-F238E27FC236}">
                <a16:creationId xmlns:a16="http://schemas.microsoft.com/office/drawing/2014/main" id="{78227F1F-C452-4E50-BEDF-931D9A1C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quality-checkmark-0">
            <a:extLst xmlns:a="http://schemas.openxmlformats.org/drawingml/2006/main">
              <a:ext uri="{FF2B5EF4-FFF2-40B4-BE49-F238E27FC236}">
                <a16:creationId xmlns:a16="http://schemas.microsoft.com/office/drawing/2014/main" id="{C098F022-3C46-4C28-8FB7-ACCC6B1B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quality-title-0">
            <a:extLst xmlns:a="http://schemas.openxmlformats.org/drawingml/2006/main">
              <a:ext uri="{FF2B5EF4-FFF2-40B4-BE49-F238E27FC236}">
                <a16:creationId xmlns:a16="http://schemas.microsoft.com/office/drawing/2014/main" id="{A2D97E82-4CF9-48E8-A67E-3FBF6579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上传安全</a:t>
            </a:r>
          </a:p>
        </p:txBody>
      </p:sp>
      <p:sp>
        <p:nvSpPr>
          <p:cNvPr id="16" name="quality-body-0">
            <a:extLst xmlns:a="http://schemas.openxmlformats.org/drawingml/2006/main">
              <a:ext uri="{FF2B5EF4-FFF2-40B4-BE49-F238E27FC236}">
                <a16:creationId xmlns:a16="http://schemas.microsoft.com/office/drawing/2014/main" id="{AD4C353C-FF9E-49D8-AEA5-58B81691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扩展名、MIME、签名、ZIP 炸弹与 100 MiB 上限</a:t>
            </a:r>
          </a:p>
        </p:txBody>
      </p:sp>
      <p:sp>
        <p:nvSpPr>
          <p:cNvPr id="17" name="quality-check-1">
            <a:extLst xmlns:a="http://schemas.openxmlformats.org/drawingml/2006/main">
              <a:ext uri="{FF2B5EF4-FFF2-40B4-BE49-F238E27FC236}">
                <a16:creationId xmlns:a16="http://schemas.microsoft.com/office/drawing/2014/main" id="{11136EBD-119F-42CE-B959-3E816735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uality-checkmark-1">
            <a:extLst xmlns:a="http://schemas.openxmlformats.org/drawingml/2006/main">
              <a:ext uri="{FF2B5EF4-FFF2-40B4-BE49-F238E27FC236}">
                <a16:creationId xmlns:a16="http://schemas.microsoft.com/office/drawing/2014/main" id="{788775B5-EC9B-4292-A969-0FAA967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quality-title-1">
            <a:extLst xmlns:a="http://schemas.openxmlformats.org/drawingml/2006/main">
              <a:ext uri="{FF2B5EF4-FFF2-40B4-BE49-F238E27FC236}">
                <a16:creationId xmlns:a16="http://schemas.microsoft.com/office/drawing/2014/main" id="{0F3BBACF-70DE-4C2F-A3FD-7B17FE70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网页安全</a:t>
            </a:r>
          </a:p>
        </p:txBody>
      </p:sp>
      <p:sp>
        <p:nvSpPr>
          <p:cNvPr id="20" name="quality-body-1">
            <a:extLst xmlns:a="http://schemas.openxmlformats.org/drawingml/2006/main">
              <a:ext uri="{FF2B5EF4-FFF2-40B4-BE49-F238E27FC236}">
                <a16:creationId xmlns:a16="http://schemas.microsoft.com/office/drawing/2014/main" id="{BE088B80-573A-4E61-8C53-D79D6156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仅 HTTP/HTTPS HTML，限制重定向与 10 MiB，拒绝内网地址</a:t>
            </a:r>
          </a:p>
        </p:txBody>
      </p:sp>
      <p:sp>
        <p:nvSpPr>
          <p:cNvPr id="21" name="quality-check-2">
            <a:extLst xmlns:a="http://schemas.openxmlformats.org/drawingml/2006/main">
              <a:ext uri="{FF2B5EF4-FFF2-40B4-BE49-F238E27FC236}">
                <a16:creationId xmlns:a16="http://schemas.microsoft.com/office/drawing/2014/main" id="{7F20EA1F-7C67-4287-BA4D-D55E3CDA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quality-checkmark-2">
            <a:extLst xmlns:a="http://schemas.openxmlformats.org/drawingml/2006/main">
              <a:ext uri="{FF2B5EF4-FFF2-40B4-BE49-F238E27FC236}">
                <a16:creationId xmlns:a16="http://schemas.microsoft.com/office/drawing/2014/main" id="{46A5E955-30F2-48C8-821D-5BE8A499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quality-title-2">
            <a:extLst xmlns:a="http://schemas.openxmlformats.org/drawingml/2006/main">
              <a:ext uri="{FF2B5EF4-FFF2-40B4-BE49-F238E27FC236}">
                <a16:creationId xmlns:a16="http://schemas.microsoft.com/office/drawing/2014/main" id="{E2ABA37B-297B-4E28-8442-5F52A387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任务可靠性</a:t>
            </a:r>
          </a:p>
        </p:txBody>
      </p:sp>
      <p:sp>
        <p:nvSpPr>
          <p:cNvPr id="24" name="quality-body-2">
            <a:extLst xmlns:a="http://schemas.openxmlformats.org/drawingml/2006/main">
              <a:ext uri="{FF2B5EF4-FFF2-40B4-BE49-F238E27FC236}">
                <a16:creationId xmlns:a16="http://schemas.microsoft.com/office/drawing/2014/main" id="{213001B0-9456-4875-AE89-6DDD80D1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流式日志、心跳、超时、取消与子进程回收</a:t>
            </a:r>
          </a:p>
        </p:txBody>
      </p:sp>
      <p:sp>
        <p:nvSpPr>
          <p:cNvPr id="25" name="quality-check-3">
            <a:extLst xmlns:a="http://schemas.openxmlformats.org/drawingml/2006/main">
              <a:ext uri="{FF2B5EF4-FFF2-40B4-BE49-F238E27FC236}">
                <a16:creationId xmlns:a16="http://schemas.microsoft.com/office/drawing/2014/main" id="{0E6A3D1E-D61E-405E-AC00-2D4F6212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quality-checkmark-3">
            <a:extLst xmlns:a="http://schemas.openxmlformats.org/drawingml/2006/main">
              <a:ext uri="{FF2B5EF4-FFF2-40B4-BE49-F238E27FC236}">
                <a16:creationId xmlns:a16="http://schemas.microsoft.com/office/drawing/2014/main" id="{3CD8BC5D-AB2F-4822-8E8C-D7BDABCD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quality-title-3">
            <a:extLst xmlns:a="http://schemas.openxmlformats.org/drawingml/2006/main">
              <a:ext uri="{FF2B5EF4-FFF2-40B4-BE49-F238E27FC236}">
                <a16:creationId xmlns:a16="http://schemas.microsoft.com/office/drawing/2014/main" id="{9B91022B-88A3-4EA8-A381-A26E75A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101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数据一致性</a:t>
            </a:r>
          </a:p>
        </p:txBody>
      </p:sp>
      <p:sp>
        <p:nvSpPr>
          <p:cNvPr id="28" name="quality-body-3">
            <a:extLst xmlns:a="http://schemas.openxmlformats.org/drawingml/2006/main">
              <a:ext uri="{FF2B5EF4-FFF2-40B4-BE49-F238E27FC236}">
                <a16:creationId xmlns:a16="http://schemas.microsoft.com/office/drawing/2014/main" id="{D4855AAE-1841-4352-9E55-917C9311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启动恢复中断状态，向量写入前幂等删除，失败补偿清理</a:t>
            </a:r>
          </a:p>
        </p:txBody>
      </p:sp>
      <p:sp>
        <p:nvSpPr>
          <p:cNvPr id="29" name="quality-boundary">
            <a:extLst xmlns:a="http://schemas.openxmlformats.org/drawingml/2006/main">
              <a:ext uri="{FF2B5EF4-FFF2-40B4-BE49-F238E27FC236}">
                <a16:creationId xmlns:a16="http://schemas.microsoft.com/office/drawing/2014/main" id="{77798121-21DE-41F8-81CF-2E042D42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5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58A00"/>
                </a:solidFill>
                <a:latin typeface="Microsoft YaHei"/>
                <a:ea typeface="Microsoft YaHei"/>
                <a:cs typeface="Microsoft YaHei"/>
              </a:rPr>
              <a:t>本次核验：Vite 生产构建通过；现有单元测试聚焦 4 个引擎进程场景，后续仍需补齐 RAG、路由和端到端测试。</a:t>
            </a:r>
          </a:p>
        </p:txBody>
      </p:sp>
    </p:spTree>
    <p:extLst>
      <p:ext uri="{BB962C8B-B14F-4D97-AF65-F5344CB8AC3E}">
        <p14:creationId xmlns:p14="http://schemas.microsoft.com/office/powerpoint/2010/main" val="1277105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C9E1DADB-B927-45F3-AD38-6834BDE4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 · RAG 问答链路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3AB3C0C-3042-4B73-B4B9-00FA6AF7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答案可信度来自“混合检索 + 证据门槛 + 可点击引用”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19E51820-BD6F-462F-8246-86F6888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retrieval-num-0">
            <a:extLst xmlns:a="http://schemas.openxmlformats.org/drawingml/2006/main">
              <a:ext uri="{FF2B5EF4-FFF2-40B4-BE49-F238E27FC236}">
                <a16:creationId xmlns:a16="http://schemas.microsoft.com/office/drawing/2014/main" id="{A226A3A1-B071-4073-B5E9-5982F4F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retrieval-title-0">
            <a:extLst xmlns:a="http://schemas.openxmlformats.org/drawingml/2006/main">
              <a:ext uri="{FF2B5EF4-FFF2-40B4-BE49-F238E27FC236}">
                <a16:creationId xmlns:a16="http://schemas.microsoft.com/office/drawing/2014/main" id="{4F4B140B-F761-48D2-85EC-22C0C8A6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95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范围过滤</a:t>
            </a:r>
          </a:p>
        </p:txBody>
      </p:sp>
      <p:sp>
        <p:nvSpPr>
          <p:cNvPr id="6" name="retrieval-body-0">
            <a:extLst xmlns:a="http://schemas.openxmlformats.org/drawingml/2006/main">
              <a:ext uri="{FF2B5EF4-FFF2-40B4-BE49-F238E27FC236}">
                <a16:creationId xmlns:a16="http://schemas.microsoft.com/office/drawing/2014/main" id="{E16CB841-D31C-4F1D-986E-2F292E5F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course_id 与 file_ids 先限定检索范围，避免跨课程混入。</a:t>
            </a:r>
          </a:p>
        </p:txBody>
      </p:sp>
      <p:sp>
        <p:nvSpPr>
          <p:cNvPr id="7" name="retrieval-num-1">
            <a:extLst xmlns:a="http://schemas.openxmlformats.org/drawingml/2006/main">
              <a:ext uri="{FF2B5EF4-FFF2-40B4-BE49-F238E27FC236}">
                <a16:creationId xmlns:a16="http://schemas.microsoft.com/office/drawing/2014/main" id="{B309612F-ED82-46C5-87CD-873789F4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retrieval-title-1">
            <a:extLst xmlns:a="http://schemas.openxmlformats.org/drawingml/2006/main">
              <a:ext uri="{FF2B5EF4-FFF2-40B4-BE49-F238E27FC236}">
                <a16:creationId xmlns:a16="http://schemas.microsoft.com/office/drawing/2014/main" id="{FC75BD4A-AEC4-48C6-952E-95DF0F2E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混合召回</a:t>
            </a:r>
          </a:p>
        </p:txBody>
      </p:sp>
      <p:sp>
        <p:nvSpPr>
          <p:cNvPr id="9" name="retrieval-body-1">
            <a:extLst xmlns:a="http://schemas.openxmlformats.org/drawingml/2006/main">
              <a:ext uri="{FF2B5EF4-FFF2-40B4-BE49-F238E27FC236}">
                <a16:creationId xmlns:a16="http://schemas.microsoft.com/office/drawing/2014/main" id="{65E031E2-EC29-4EB4-9104-39D38E3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52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Chroma 向量 Top 10 与 BM25 / 查询覆盖率共同计分。</a:t>
            </a:r>
          </a:p>
        </p:txBody>
      </p:sp>
      <p:sp>
        <p:nvSpPr>
          <p:cNvPr id="10" name="retrieval-num-2">
            <a:extLst xmlns:a="http://schemas.openxmlformats.org/drawingml/2006/main">
              <a:ext uri="{FF2B5EF4-FFF2-40B4-BE49-F238E27FC236}">
                <a16:creationId xmlns:a16="http://schemas.microsoft.com/office/drawing/2014/main" id="{2B924D57-EED5-49DE-B0EC-EA9C4958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retrieval-title-2">
            <a:extLst xmlns:a="http://schemas.openxmlformats.org/drawingml/2006/main">
              <a:ext uri="{FF2B5EF4-FFF2-40B4-BE49-F238E27FC236}">
                <a16:creationId xmlns:a16="http://schemas.microsoft.com/office/drawing/2014/main" id="{05630138-1B17-405D-969A-4211B9DE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质量筛选</a:t>
            </a:r>
          </a:p>
        </p:txBody>
      </p:sp>
      <p:sp>
        <p:nvSpPr>
          <p:cNvPr id="12" name="retrieval-body-2">
            <a:extLst xmlns:a="http://schemas.openxmlformats.org/drawingml/2006/main">
              <a:ext uri="{FF2B5EF4-FFF2-40B4-BE49-F238E27FC236}">
                <a16:creationId xmlns:a16="http://schemas.microsoft.com/office/drawing/2014/main" id="{04E5C40C-500E-4747-B13C-454E2AE4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MMR 去重，可选 CrossEncoder；最低相关度默认 0.55。</a:t>
            </a:r>
          </a:p>
        </p:txBody>
      </p:sp>
      <p:sp>
        <p:nvSpPr>
          <p:cNvPr id="13" name="retrieval-num-3">
            <a:extLst xmlns:a="http://schemas.openxmlformats.org/drawingml/2006/main">
              <a:ext uri="{FF2B5EF4-FFF2-40B4-BE49-F238E27FC236}">
                <a16:creationId xmlns:a16="http://schemas.microsoft.com/office/drawing/2014/main" id="{20FD50DF-101D-4263-8A97-EBE98C8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retrieval-title-3">
            <a:extLst xmlns:a="http://schemas.openxmlformats.org/drawingml/2006/main">
              <a:ext uri="{FF2B5EF4-FFF2-40B4-BE49-F238E27FC236}">
                <a16:creationId xmlns:a16="http://schemas.microsoft.com/office/drawing/2014/main" id="{B4879CB9-E95B-4C52-801C-8FF49143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来源追踪</a:t>
            </a:r>
          </a:p>
        </p:txBody>
      </p:sp>
      <p:sp>
        <p:nvSpPr>
          <p:cNvPr id="15" name="retrieval-body-3">
            <a:extLst xmlns:a="http://schemas.openxmlformats.org/drawingml/2006/main">
              <a:ext uri="{FF2B5EF4-FFF2-40B4-BE49-F238E27FC236}">
                <a16:creationId xmlns:a16="http://schemas.microsoft.com/office/drawing/2014/main" id="{751C5E88-5245-4415-B69A-2C0F0A0A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最终 Top 3 保留页码、幻灯片、章节、引擎与文件来源。</a:t>
            </a:r>
          </a:p>
        </p:txBody>
      </p:sp>
      <p:sp>
        <p:nvSpPr>
          <p:cNvPr id="16" name="retrieval-outcome">
            <a:extLst xmlns:a="http://schemas.openxmlformats.org/drawingml/2006/main">
              <a:ext uri="{FF2B5EF4-FFF2-40B4-BE49-F238E27FC236}">
                <a16:creationId xmlns:a16="http://schemas.microsoft.com/office/drawing/2014/main" id="{9323AF7F-D717-40B6-A247-19FDEF23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201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trieval-outcome-text">
            <a:extLst xmlns:a="http://schemas.openxmlformats.org/drawingml/2006/main">
              <a:ext uri="{FF2B5EF4-FFF2-40B4-BE49-F238E27FC236}">
                <a16:creationId xmlns:a16="http://schemas.microsoft.com/office/drawing/2014/main" id="{EAEB46A7-6636-41DB-B528-348888C1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资料不足 → 明确返回“没有足够依据”    |    资料充分 → 注入上下文，再流式调用大模型生成答案</a:t>
            </a:r>
          </a:p>
        </p:txBody>
      </p:sp>
    </p:spTree>
    <p:extLst>
      <p:ext uri="{BB962C8B-B14F-4D97-AF65-F5344CB8AC3E}">
        <p14:creationId xmlns:p14="http://schemas.microsoft.com/office/powerpoint/2010/main" val="5004225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8A6F453A-5F00-4F87-ABCE-D687329C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 · RAG 入库链路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F1E366C-BB60-4CCC-9528-27FC302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入库状态机让文档处理可观察、可恢复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ECD2561C-AB08-40D0-96D2-283168CE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66" name="ingest-arrow-0"/>
          <p:cNvCxnSpPr/>
          <p:nvPr/>
        </p:nvCxnSpPr>
        <p:spPr>
          <a:xfrm xmlns:a="http://schemas.openxmlformats.org/drawingml/2006/main">
            <a:off x="22288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7" name="ingest-arrow-1"/>
          <p:cNvCxnSpPr/>
          <p:nvPr/>
        </p:nvCxnSpPr>
        <p:spPr>
          <a:xfrm xmlns:a="http://schemas.openxmlformats.org/drawingml/2006/main">
            <a:off x="43624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8" name="ingest-arrow-2"/>
          <p:cNvCxnSpPr/>
          <p:nvPr/>
        </p:nvCxnSpPr>
        <p:spPr>
          <a:xfrm xmlns:a="http://schemas.openxmlformats.org/drawingml/2006/main">
            <a:off x="64960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9" name="ingest-arrow-3"/>
          <p:cNvCxnSpPr/>
          <p:nvPr/>
        </p:nvCxnSpPr>
        <p:spPr>
          <a:xfrm xmlns:a="http://schemas.openxmlformats.org/drawingml/2006/main">
            <a:off x="86296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8" name="ingest-node-0">
            <a:extLst xmlns:a="http://schemas.openxmlformats.org/drawingml/2006/main">
              <a:ext uri="{FF2B5EF4-FFF2-40B4-BE49-F238E27FC236}">
                <a16:creationId xmlns:a16="http://schemas.microsoft.com/office/drawing/2014/main" id="{F3C30487-B9D5-4739-B016-E9AEADFC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gest-num-0">
            <a:extLst xmlns:a="http://schemas.openxmlformats.org/drawingml/2006/main">
              <a:ext uri="{FF2B5EF4-FFF2-40B4-BE49-F238E27FC236}">
                <a16:creationId xmlns:a16="http://schemas.microsoft.com/office/drawing/2014/main" id="{7998DA84-C071-4D5D-982E-769EE2D8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ingest-title-0">
            <a:extLst xmlns:a="http://schemas.openxmlformats.org/drawingml/2006/main">
              <a:ext uri="{FF2B5EF4-FFF2-40B4-BE49-F238E27FC236}">
                <a16:creationId xmlns:a16="http://schemas.microsoft.com/office/drawing/2014/main" id="{C6753667-E425-49C1-B610-99D259BD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11" name="ingest-body-0">
            <a:extLst xmlns:a="http://schemas.openxmlformats.org/drawingml/2006/main">
              <a:ext uri="{FF2B5EF4-FFF2-40B4-BE49-F238E27FC236}">
                <a16:creationId xmlns:a16="http://schemas.microsoft.com/office/drawing/2014/main" id="{5897492C-254C-4E52-9DF0-D735F71F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扩展名 / MIME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文件签名 / ZIP 安全</a:t>
            </a:r>
          </a:p>
        </p:txBody>
      </p:sp>
      <p:sp>
        <p:nvSpPr>
          <p:cNvPr id="12" name="ingest-node-1">
            <a:extLst xmlns:a="http://schemas.openxmlformats.org/drawingml/2006/main">
              <a:ext uri="{FF2B5EF4-FFF2-40B4-BE49-F238E27FC236}">
                <a16:creationId xmlns:a16="http://schemas.microsoft.com/office/drawing/2014/main" id="{9937C48C-AEE7-440F-9AAD-89892C1F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gest-num-1">
            <a:extLst xmlns:a="http://schemas.openxmlformats.org/drawingml/2006/main">
              <a:ext uri="{FF2B5EF4-FFF2-40B4-BE49-F238E27FC236}">
                <a16:creationId xmlns:a16="http://schemas.microsoft.com/office/drawing/2014/main" id="{E931FC0A-48A1-470C-B1D6-1A6FF9F2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ingest-title-1">
            <a:extLst xmlns:a="http://schemas.openxmlformats.org/drawingml/2006/main">
              <a:ext uri="{FF2B5EF4-FFF2-40B4-BE49-F238E27FC236}">
                <a16:creationId xmlns:a16="http://schemas.microsoft.com/office/drawing/2014/main" id="{151DD937-7DC1-49E6-B893-F3A2319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5" name="ingest-body-1">
            <a:extLst xmlns:a="http://schemas.openxmlformats.org/drawingml/2006/main">
              <a:ext uri="{FF2B5EF4-FFF2-40B4-BE49-F238E27FC236}">
                <a16:creationId xmlns:a16="http://schemas.microsoft.com/office/drawing/2014/main" id="{14BBF572-9226-40F3-BDBF-1AE396F8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PyMuPDF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OCR 或视觉引擎</a:t>
            </a:r>
          </a:p>
        </p:txBody>
      </p:sp>
      <p:sp>
        <p:nvSpPr>
          <p:cNvPr id="16" name="ingest-node-2">
            <a:extLst xmlns:a="http://schemas.openxmlformats.org/drawingml/2006/main">
              <a:ext uri="{FF2B5EF4-FFF2-40B4-BE49-F238E27FC236}">
                <a16:creationId xmlns:a16="http://schemas.microsoft.com/office/drawing/2014/main" id="{CF9AAD71-A0C4-4D23-8BAE-2026630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gest-num-2">
            <a:extLst xmlns:a="http://schemas.openxmlformats.org/drawingml/2006/main">
              <a:ext uri="{FF2B5EF4-FFF2-40B4-BE49-F238E27FC236}">
                <a16:creationId xmlns:a16="http://schemas.microsoft.com/office/drawing/2014/main" id="{C4CDC76E-1AE9-4741-8A11-44A567C1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ingest-title-2">
            <a:extLst xmlns:a="http://schemas.openxmlformats.org/drawingml/2006/main">
              <a:ext uri="{FF2B5EF4-FFF2-40B4-BE49-F238E27FC236}">
                <a16:creationId xmlns:a16="http://schemas.microsoft.com/office/drawing/2014/main" id="{855D756A-6E97-4B6D-85B1-46D40FED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切片</a:t>
            </a:r>
          </a:p>
        </p:txBody>
      </p:sp>
      <p:sp>
        <p:nvSpPr>
          <p:cNvPr id="19" name="ingest-body-2">
            <a:extLst xmlns:a="http://schemas.openxmlformats.org/drawingml/2006/main">
              <a:ext uri="{FF2B5EF4-FFF2-40B4-BE49-F238E27FC236}">
                <a16:creationId xmlns:a16="http://schemas.microsoft.com/office/drawing/2014/main" id="{C07FA3BF-4939-4664-B03A-0DC4B89B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章节优先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500 字 + 50 重叠</a:t>
            </a:r>
          </a:p>
        </p:txBody>
      </p:sp>
      <p:sp>
        <p:nvSpPr>
          <p:cNvPr id="20" name="ingest-node-3">
            <a:extLst xmlns:a="http://schemas.openxmlformats.org/drawingml/2006/main">
              <a:ext uri="{FF2B5EF4-FFF2-40B4-BE49-F238E27FC236}">
                <a16:creationId xmlns:a16="http://schemas.microsoft.com/office/drawing/2014/main" id="{B3B5783F-7F56-43C7-B1F8-52EBEEE3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ngest-num-3">
            <a:extLst xmlns:a="http://schemas.openxmlformats.org/drawingml/2006/main">
              <a:ext uri="{FF2B5EF4-FFF2-40B4-BE49-F238E27FC236}">
                <a16:creationId xmlns:a16="http://schemas.microsoft.com/office/drawing/2014/main" id="{097C2D09-086A-4AAD-967B-DF54FD25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ingest-title-3">
            <a:extLst xmlns:a="http://schemas.openxmlformats.org/drawingml/2006/main">
              <a:ext uri="{FF2B5EF4-FFF2-40B4-BE49-F238E27FC236}">
                <a16:creationId xmlns:a16="http://schemas.microsoft.com/office/drawing/2014/main" id="{014431E4-07FB-45FC-A191-D4B91C32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23" name="ingest-body-3">
            <a:extLst xmlns:a="http://schemas.openxmlformats.org/drawingml/2006/main">
              <a:ext uri="{FF2B5EF4-FFF2-40B4-BE49-F238E27FC236}">
                <a16:creationId xmlns:a16="http://schemas.microsoft.com/office/drawing/2014/main" id="{17F510DD-3644-472F-BB65-9F09C298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BGE embedding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写入 Chroma</a:t>
            </a:r>
          </a:p>
        </p:txBody>
      </p:sp>
      <p:sp>
        <p:nvSpPr>
          <p:cNvPr id="24" name="ingest-node-4">
            <a:extLst xmlns:a="http://schemas.openxmlformats.org/drawingml/2006/main">
              <a:ext uri="{FF2B5EF4-FFF2-40B4-BE49-F238E27FC236}">
                <a16:creationId xmlns:a16="http://schemas.microsoft.com/office/drawing/2014/main" id="{6FCF1911-FA70-4560-A6CF-A725F2CF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ingest-num-4">
            <a:extLst xmlns:a="http://schemas.openxmlformats.org/drawingml/2006/main">
              <a:ext uri="{FF2B5EF4-FFF2-40B4-BE49-F238E27FC236}">
                <a16:creationId xmlns:a16="http://schemas.microsoft.com/office/drawing/2014/main" id="{CD1398D7-5D7B-4487-8486-911D182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ingest-title-4">
            <a:extLst xmlns:a="http://schemas.openxmlformats.org/drawingml/2006/main">
              <a:ext uri="{FF2B5EF4-FFF2-40B4-BE49-F238E27FC236}">
                <a16:creationId xmlns:a16="http://schemas.microsoft.com/office/drawing/2014/main" id="{4FD6171C-FA63-4B37-99F0-3CE4D613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就绪</a:t>
            </a:r>
          </a:p>
        </p:txBody>
      </p:sp>
      <p:sp>
        <p:nvSpPr>
          <p:cNvPr id="27" name="ingest-body-4">
            <a:extLst xmlns:a="http://schemas.openxmlformats.org/drawingml/2006/main">
              <a:ext uri="{FF2B5EF4-FFF2-40B4-BE49-F238E27FC236}">
                <a16:creationId xmlns:a16="http://schemas.microsoft.com/office/drawing/2014/main" id="{8C1ECC2F-CF19-422C-BAD0-A720BD7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记录页数、耗时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chunk 数与引擎</a:t>
            </a:r>
          </a:p>
        </p:txBody>
      </p:sp>
      <p:cxnSp>
        <p:nvCxnSpPr>
          <p:cNvPr id="90" name="ingest-rule"/>
          <p:cNvCxnSpPr/>
          <p:nvPr/>
        </p:nvCxnSpPr>
        <p:spPr>
          <a:xfrm xmlns:a="http://schemas.openxmlformats.org/drawingml/2006/main">
            <a:off x="495300" y="47625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ingest-dedup-title">
            <a:extLst xmlns:a="http://schemas.openxmlformats.org/drawingml/2006/main">
              <a:ext uri="{FF2B5EF4-FFF2-40B4-BE49-F238E27FC236}">
                <a16:creationId xmlns:a16="http://schemas.microsoft.com/office/drawing/2014/main" id="{4222ED5A-174A-4552-B7A9-73956131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去重</a:t>
            </a:r>
          </a:p>
        </p:txBody>
      </p:sp>
      <p:sp>
        <p:nvSpPr>
          <p:cNvPr id="30" name="ingest-dedup-body">
            <a:extLst xmlns:a="http://schemas.openxmlformats.org/drawingml/2006/main">
              <a:ext uri="{FF2B5EF4-FFF2-40B4-BE49-F238E27FC236}">
                <a16:creationId xmlns:a16="http://schemas.microsoft.com/office/drawing/2014/main" id="{7C76E372-7DE1-4E88-AFC2-C5FBB444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SHA‑256 复用已就绪文件</a:t>
            </a:r>
          </a:p>
        </p:txBody>
      </p:sp>
      <p:sp>
        <p:nvSpPr>
          <p:cNvPr id="31" name="ingest-state-title">
            <a:extLst xmlns:a="http://schemas.openxmlformats.org/drawingml/2006/main">
              <a:ext uri="{FF2B5EF4-FFF2-40B4-BE49-F238E27FC236}">
                <a16:creationId xmlns:a16="http://schemas.microsoft.com/office/drawing/2014/main" id="{EFAF3A9F-47BB-402E-BFA7-C4C8431A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32" name="ingest-state-body">
            <a:extLst xmlns:a="http://schemas.openxmlformats.org/drawingml/2006/main">
              <a:ext uri="{FF2B5EF4-FFF2-40B4-BE49-F238E27FC236}">
                <a16:creationId xmlns:a16="http://schemas.microsoft.com/office/drawing/2014/main" id="{1E0AB88D-DE1D-49C8-84FC-7B3042A2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10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uploaded → parsing → indexing → ready / failed</a:t>
            </a:r>
          </a:p>
        </p:txBody>
      </p:sp>
      <p:sp>
        <p:nvSpPr>
          <p:cNvPr id="33" name="ingest-comp-title">
            <a:extLst xmlns:a="http://schemas.openxmlformats.org/drawingml/2006/main">
              <a:ext uri="{FF2B5EF4-FFF2-40B4-BE49-F238E27FC236}">
                <a16:creationId xmlns:a16="http://schemas.microsoft.com/office/drawing/2014/main" id="{D9F831ED-7511-4912-8012-2499AF9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补偿</a:t>
            </a:r>
          </a:p>
        </p:txBody>
      </p:sp>
      <p:sp>
        <p:nvSpPr>
          <p:cNvPr id="34" name="ingest-comp-body">
            <a:extLst xmlns:a="http://schemas.openxmlformats.org/drawingml/2006/main">
              <a:ext uri="{FF2B5EF4-FFF2-40B4-BE49-F238E27FC236}">
                <a16:creationId xmlns:a16="http://schemas.microsoft.com/office/drawing/2014/main" id="{594D8B41-21BE-4943-AF1D-948ED14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失败按 file_id 清理孤儿向量</a:t>
            </a:r>
          </a:p>
        </p:txBody>
      </p:sp>
    </p:spTree>
    <p:extLst>
      <p:ext uri="{BB962C8B-B14F-4D97-AF65-F5344CB8AC3E}">
        <p14:creationId xmlns:p14="http://schemas.microsoft.com/office/powerpoint/2010/main" val="1318612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8A6F453A-5F00-4F87-ABCE-D687329C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 · RAG 入库链路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F1E366C-BB60-4CCC-9528-27FC302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入库状态机让文档处理可观察、可恢复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ECD2561C-AB08-40D0-96D2-283168CE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66" name="ingest-arrow-0"/>
          <p:cNvCxnSpPr/>
          <p:nvPr/>
        </p:nvCxnSpPr>
        <p:spPr>
          <a:xfrm xmlns:a="http://schemas.openxmlformats.org/drawingml/2006/main">
            <a:off x="22288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7" name="ingest-arrow-1"/>
          <p:cNvCxnSpPr/>
          <p:nvPr/>
        </p:nvCxnSpPr>
        <p:spPr>
          <a:xfrm xmlns:a="http://schemas.openxmlformats.org/drawingml/2006/main">
            <a:off x="43624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8" name="ingest-arrow-2"/>
          <p:cNvCxnSpPr/>
          <p:nvPr/>
        </p:nvCxnSpPr>
        <p:spPr>
          <a:xfrm xmlns:a="http://schemas.openxmlformats.org/drawingml/2006/main">
            <a:off x="64960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69" name="ingest-arrow-3"/>
          <p:cNvCxnSpPr/>
          <p:nvPr/>
        </p:nvCxnSpPr>
        <p:spPr>
          <a:xfrm xmlns:a="http://schemas.openxmlformats.org/drawingml/2006/main">
            <a:off x="8629650" y="2647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8" name="ingest-node-0">
            <a:extLst xmlns:a="http://schemas.openxmlformats.org/drawingml/2006/main">
              <a:ext uri="{FF2B5EF4-FFF2-40B4-BE49-F238E27FC236}">
                <a16:creationId xmlns:a16="http://schemas.microsoft.com/office/drawing/2014/main" id="{F3C30487-B9D5-4739-B016-E9AEADFC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gest-num-0">
            <a:extLst xmlns:a="http://schemas.openxmlformats.org/drawingml/2006/main">
              <a:ext uri="{FF2B5EF4-FFF2-40B4-BE49-F238E27FC236}">
                <a16:creationId xmlns:a16="http://schemas.microsoft.com/office/drawing/2014/main" id="{7998DA84-C071-4D5D-982E-769EE2D8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ingest-title-0">
            <a:extLst xmlns:a="http://schemas.openxmlformats.org/drawingml/2006/main">
              <a:ext uri="{FF2B5EF4-FFF2-40B4-BE49-F238E27FC236}">
                <a16:creationId xmlns:a16="http://schemas.microsoft.com/office/drawing/2014/main" id="{C6753667-E425-49C1-B610-99D259BD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11" name="ingest-body-0">
            <a:extLst xmlns:a="http://schemas.openxmlformats.org/drawingml/2006/main">
              <a:ext uri="{FF2B5EF4-FFF2-40B4-BE49-F238E27FC236}">
                <a16:creationId xmlns:a16="http://schemas.microsoft.com/office/drawing/2014/main" id="{5897492C-254C-4E52-9DF0-D735F71F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扩展名 / MIME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文件签名 / ZIP 安全</a:t>
            </a:r>
          </a:p>
        </p:txBody>
      </p:sp>
      <p:sp>
        <p:nvSpPr>
          <p:cNvPr id="12" name="ingest-node-1">
            <a:extLst xmlns:a="http://schemas.openxmlformats.org/drawingml/2006/main">
              <a:ext uri="{FF2B5EF4-FFF2-40B4-BE49-F238E27FC236}">
                <a16:creationId xmlns:a16="http://schemas.microsoft.com/office/drawing/2014/main" id="{9937C48C-AEE7-440F-9AAD-89892C1F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gest-num-1">
            <a:extLst xmlns:a="http://schemas.openxmlformats.org/drawingml/2006/main">
              <a:ext uri="{FF2B5EF4-FFF2-40B4-BE49-F238E27FC236}">
                <a16:creationId xmlns:a16="http://schemas.microsoft.com/office/drawing/2014/main" id="{E931FC0A-48A1-470C-B1D6-1A6FF9F2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ingest-title-1">
            <a:extLst xmlns:a="http://schemas.openxmlformats.org/drawingml/2006/main">
              <a:ext uri="{FF2B5EF4-FFF2-40B4-BE49-F238E27FC236}">
                <a16:creationId xmlns:a16="http://schemas.microsoft.com/office/drawing/2014/main" id="{151DD937-7DC1-49E6-B893-F3A2319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5" name="ingest-body-1">
            <a:extLst xmlns:a="http://schemas.openxmlformats.org/drawingml/2006/main">
              <a:ext uri="{FF2B5EF4-FFF2-40B4-BE49-F238E27FC236}">
                <a16:creationId xmlns:a16="http://schemas.microsoft.com/office/drawing/2014/main" id="{14BBF572-9226-40F3-BDBF-1AE396F8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PyMuPDF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OCR 或视觉引擎</a:t>
            </a:r>
          </a:p>
        </p:txBody>
      </p:sp>
      <p:sp>
        <p:nvSpPr>
          <p:cNvPr id="16" name="ingest-node-2">
            <a:extLst xmlns:a="http://schemas.openxmlformats.org/drawingml/2006/main">
              <a:ext uri="{FF2B5EF4-FFF2-40B4-BE49-F238E27FC236}">
                <a16:creationId xmlns:a16="http://schemas.microsoft.com/office/drawing/2014/main" id="{CF9AAD71-A0C4-4D23-8BAE-2026630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gest-num-2">
            <a:extLst xmlns:a="http://schemas.openxmlformats.org/drawingml/2006/main">
              <a:ext uri="{FF2B5EF4-FFF2-40B4-BE49-F238E27FC236}">
                <a16:creationId xmlns:a16="http://schemas.microsoft.com/office/drawing/2014/main" id="{C4CDC76E-1AE9-4741-8A11-44A567C1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ingest-title-2">
            <a:extLst xmlns:a="http://schemas.openxmlformats.org/drawingml/2006/main">
              <a:ext uri="{FF2B5EF4-FFF2-40B4-BE49-F238E27FC236}">
                <a16:creationId xmlns:a16="http://schemas.microsoft.com/office/drawing/2014/main" id="{855D756A-6E97-4B6D-85B1-46D40FED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切片</a:t>
            </a:r>
          </a:p>
        </p:txBody>
      </p:sp>
      <p:sp>
        <p:nvSpPr>
          <p:cNvPr id="19" name="ingest-body-2">
            <a:extLst xmlns:a="http://schemas.openxmlformats.org/drawingml/2006/main">
              <a:ext uri="{FF2B5EF4-FFF2-40B4-BE49-F238E27FC236}">
                <a16:creationId xmlns:a16="http://schemas.microsoft.com/office/drawing/2014/main" id="{C07FA3BF-4939-4664-B03A-0DC4B89B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章节优先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500 字 + 50 重叠</a:t>
            </a:r>
          </a:p>
        </p:txBody>
      </p:sp>
      <p:sp>
        <p:nvSpPr>
          <p:cNvPr id="20" name="ingest-node-3">
            <a:extLst xmlns:a="http://schemas.openxmlformats.org/drawingml/2006/main">
              <a:ext uri="{FF2B5EF4-FFF2-40B4-BE49-F238E27FC236}">
                <a16:creationId xmlns:a16="http://schemas.microsoft.com/office/drawing/2014/main" id="{B3B5783F-7F56-43C7-B1F8-52EBEEE3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ngest-num-3">
            <a:extLst xmlns:a="http://schemas.openxmlformats.org/drawingml/2006/main">
              <a:ext uri="{FF2B5EF4-FFF2-40B4-BE49-F238E27FC236}">
                <a16:creationId xmlns:a16="http://schemas.microsoft.com/office/drawing/2014/main" id="{097C2D09-086A-4AAD-967B-DF54FD25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ingest-title-3">
            <a:extLst xmlns:a="http://schemas.openxmlformats.org/drawingml/2006/main">
              <a:ext uri="{FF2B5EF4-FFF2-40B4-BE49-F238E27FC236}">
                <a16:creationId xmlns:a16="http://schemas.microsoft.com/office/drawing/2014/main" id="{014431E4-07FB-45FC-A191-D4B91C32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23" name="ingest-body-3">
            <a:extLst xmlns:a="http://schemas.openxmlformats.org/drawingml/2006/main">
              <a:ext uri="{FF2B5EF4-FFF2-40B4-BE49-F238E27FC236}">
                <a16:creationId xmlns:a16="http://schemas.microsoft.com/office/drawing/2014/main" id="{17F510DD-3644-472F-BB65-9F09C298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BGE embedding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写入 Chroma</a:t>
            </a:r>
          </a:p>
        </p:txBody>
      </p:sp>
      <p:sp>
        <p:nvSpPr>
          <p:cNvPr id="24" name="ingest-node-4">
            <a:extLst xmlns:a="http://schemas.openxmlformats.org/drawingml/2006/main">
              <a:ext uri="{FF2B5EF4-FFF2-40B4-BE49-F238E27FC236}">
                <a16:creationId xmlns:a16="http://schemas.microsoft.com/office/drawing/2014/main" id="{6FCF1911-FA70-4560-A6CF-A725F2CF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ingest-num-4">
            <a:extLst xmlns:a="http://schemas.openxmlformats.org/drawingml/2006/main">
              <a:ext uri="{FF2B5EF4-FFF2-40B4-BE49-F238E27FC236}">
                <a16:creationId xmlns:a16="http://schemas.microsoft.com/office/drawing/2014/main" id="{CD1398D7-5D7B-4487-8486-911D182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717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ingest-title-4">
            <a:extLst xmlns:a="http://schemas.openxmlformats.org/drawingml/2006/main">
              <a:ext uri="{FF2B5EF4-FFF2-40B4-BE49-F238E27FC236}">
                <a16:creationId xmlns:a16="http://schemas.microsoft.com/office/drawing/2014/main" id="{4FD6171C-FA63-4B37-99F0-3CE4D613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就绪</a:t>
            </a:r>
          </a:p>
        </p:txBody>
      </p:sp>
      <p:sp>
        <p:nvSpPr>
          <p:cNvPr id="27" name="ingest-body-4">
            <a:extLst xmlns:a="http://schemas.openxmlformats.org/drawingml/2006/main">
              <a:ext uri="{FF2B5EF4-FFF2-40B4-BE49-F238E27FC236}">
                <a16:creationId xmlns:a16="http://schemas.microsoft.com/office/drawing/2014/main" id="{8C1ECC2F-CF19-422C-BAD0-A720BD7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记录页数、耗时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chunk 数与引擎</a:t>
            </a:r>
          </a:p>
        </p:txBody>
      </p:sp>
      <p:cxnSp>
        <p:nvCxnSpPr>
          <p:cNvPr id="90" name="ingest-rule"/>
          <p:cNvCxnSpPr/>
          <p:nvPr/>
        </p:nvCxnSpPr>
        <p:spPr>
          <a:xfrm xmlns:a="http://schemas.openxmlformats.org/drawingml/2006/main">
            <a:off x="495300" y="47625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ingest-dedup-title">
            <a:extLst xmlns:a="http://schemas.openxmlformats.org/drawingml/2006/main">
              <a:ext uri="{FF2B5EF4-FFF2-40B4-BE49-F238E27FC236}">
                <a16:creationId xmlns:a16="http://schemas.microsoft.com/office/drawing/2014/main" id="{4222ED5A-174A-4552-B7A9-73956131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去重</a:t>
            </a:r>
          </a:p>
        </p:txBody>
      </p:sp>
      <p:sp>
        <p:nvSpPr>
          <p:cNvPr id="30" name="ingest-dedup-body">
            <a:extLst xmlns:a="http://schemas.openxmlformats.org/drawingml/2006/main">
              <a:ext uri="{FF2B5EF4-FFF2-40B4-BE49-F238E27FC236}">
                <a16:creationId xmlns:a16="http://schemas.microsoft.com/office/drawing/2014/main" id="{7C76E372-7DE1-4E88-AFC2-C5FBB444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SHA‑256 复用已就绪文件</a:t>
            </a:r>
          </a:p>
        </p:txBody>
      </p:sp>
      <p:sp>
        <p:nvSpPr>
          <p:cNvPr id="31" name="ingest-state-title">
            <a:extLst xmlns:a="http://schemas.openxmlformats.org/drawingml/2006/main">
              <a:ext uri="{FF2B5EF4-FFF2-40B4-BE49-F238E27FC236}">
                <a16:creationId xmlns:a16="http://schemas.microsoft.com/office/drawing/2014/main" id="{EFAF3A9F-47BB-402E-BFA7-C4C8431A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32" name="ingest-state-body">
            <a:extLst xmlns:a="http://schemas.openxmlformats.org/drawingml/2006/main">
              <a:ext uri="{FF2B5EF4-FFF2-40B4-BE49-F238E27FC236}">
                <a16:creationId xmlns:a16="http://schemas.microsoft.com/office/drawing/2014/main" id="{1E0AB88D-DE1D-49C8-84FC-7B3042A2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10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uploaded → parsing → indexing → ready / failed</a:t>
            </a:r>
          </a:p>
        </p:txBody>
      </p:sp>
      <p:sp>
        <p:nvSpPr>
          <p:cNvPr id="33" name="ingest-comp-title">
            <a:extLst xmlns:a="http://schemas.openxmlformats.org/drawingml/2006/main">
              <a:ext uri="{FF2B5EF4-FFF2-40B4-BE49-F238E27FC236}">
                <a16:creationId xmlns:a16="http://schemas.microsoft.com/office/drawing/2014/main" id="{D9F831ED-7511-4912-8012-2499AF9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86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补偿</a:t>
            </a:r>
          </a:p>
        </p:txBody>
      </p:sp>
      <p:sp>
        <p:nvSpPr>
          <p:cNvPr id="34" name="ingest-comp-body">
            <a:extLst xmlns:a="http://schemas.openxmlformats.org/drawingml/2006/main">
              <a:ext uri="{FF2B5EF4-FFF2-40B4-BE49-F238E27FC236}">
                <a16:creationId xmlns:a16="http://schemas.microsoft.com/office/drawing/2014/main" id="{594D8B41-21BE-4943-AF1D-948ED14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失败按 file_id 清理孤儿向量</a:t>
            </a:r>
          </a:p>
        </p:txBody>
      </p:sp>
    </p:spTree>
    <p:extLst>
      <p:ext uri="{BB962C8B-B14F-4D97-AF65-F5344CB8AC3E}">
        <p14:creationId xmlns:p14="http://schemas.microsoft.com/office/powerpoint/2010/main" val="13186120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161300AC-753F-4DC8-8CBB-07818CE1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 · 桌面交付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B78E904-3307-42DF-998A-1B702776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Electron 将项目封装为无需预装环境的 Windows 应用</a:t>
            </a:r>
          </a:p>
        </p:txBody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E7EA75C6-895E-4FFE-9890-484C11AE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cxnSp>
        <p:nvCxnSpPr>
          <p:cNvPr id="28" name="desktop-line"/>
          <p:cNvCxnSpPr/>
          <p:nvPr/>
        </p:nvCxnSpPr>
        <p:spPr>
          <a:xfrm xmlns:a="http://schemas.openxmlformats.org/drawingml/2006/main">
            <a:off x="685800" y="53340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desktop-card-0">
            <a:extLst xmlns:a="http://schemas.openxmlformats.org/drawingml/2006/main">
              <a:ext uri="{FF2B5EF4-FFF2-40B4-BE49-F238E27FC236}">
                <a16:creationId xmlns:a16="http://schemas.microsoft.com/office/drawing/2014/main" id="{7F99CA6A-6C58-4E3C-AA11-02EF9ECF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desktop-title-0">
            <a:extLst xmlns:a="http://schemas.openxmlformats.org/drawingml/2006/main">
              <a:ext uri="{FF2B5EF4-FFF2-40B4-BE49-F238E27FC236}">
                <a16:creationId xmlns:a16="http://schemas.microsoft.com/office/drawing/2014/main" id="{512346EA-860D-4CE6-B695-A701EFF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构建私有运行时</a:t>
            </a:r>
          </a:p>
        </p:txBody>
      </p:sp>
      <p:sp>
        <p:nvSpPr>
          <p:cNvPr id="7" name="desktop-body-0">
            <a:extLst xmlns:a="http://schemas.openxmlformats.org/drawingml/2006/main">
              <a:ext uri="{FF2B5EF4-FFF2-40B4-BE49-F238E27FC236}">
                <a16:creationId xmlns:a16="http://schemas.microsoft.com/office/drawing/2014/main" id="{39168726-EEB6-4CD6-82C5-5D25F31C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下载嵌入式 Python，安装后端依赖与基础 BGE 模型，离线导入验证后生成 runtime tar。</a:t>
            </a:r>
          </a:p>
        </p:txBody>
      </p:sp>
      <p:sp>
        <p:nvSpPr>
          <p:cNvPr id="8" name="desktop-dot-0">
            <a:extLst xmlns:a="http://schemas.openxmlformats.org/drawingml/2006/main">
              <a:ext uri="{FF2B5EF4-FFF2-40B4-BE49-F238E27FC236}">
                <a16:creationId xmlns:a16="http://schemas.microsoft.com/office/drawing/2014/main" id="{71340774-592E-4E74-9A62-41AD4F7C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sktop-label-0">
            <a:extLst xmlns:a="http://schemas.openxmlformats.org/drawingml/2006/main">
              <a:ext uri="{FF2B5EF4-FFF2-40B4-BE49-F238E27FC236}">
                <a16:creationId xmlns:a16="http://schemas.microsoft.com/office/drawing/2014/main" id="{559B76A6-7C52-4E6F-AEB6-1D4D529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构建阶段</a:t>
            </a:r>
          </a:p>
        </p:txBody>
      </p:sp>
      <p:sp>
        <p:nvSpPr>
          <p:cNvPr id="10" name="desktop-card-1">
            <a:extLst xmlns:a="http://schemas.openxmlformats.org/drawingml/2006/main">
              <a:ext uri="{FF2B5EF4-FFF2-40B4-BE49-F238E27FC236}">
                <a16:creationId xmlns:a16="http://schemas.microsoft.com/office/drawing/2014/main" id="{992294E9-7374-46FC-8C94-EE44FB5C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desktop-title-1">
            <a:extLst xmlns:a="http://schemas.openxmlformats.org/drawingml/2006/main">
              <a:ext uri="{FF2B5EF4-FFF2-40B4-BE49-F238E27FC236}">
                <a16:creationId xmlns:a16="http://schemas.microsoft.com/office/drawing/2014/main" id="{3FBEFC84-8675-41CD-B66C-7781EC57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首次启动释放资源</a:t>
            </a:r>
          </a:p>
        </p:txBody>
      </p:sp>
      <p:sp>
        <p:nvSpPr>
          <p:cNvPr id="12" name="desktop-body-1">
            <a:extLst xmlns:a="http://schemas.openxmlformats.org/drawingml/2006/main">
              <a:ext uri="{FF2B5EF4-FFF2-40B4-BE49-F238E27FC236}">
                <a16:creationId xmlns:a16="http://schemas.microsoft.com/office/drawing/2014/main" id="{E9EFB553-B92E-4276-B4CB-0EB4626C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比较 runtime manifest，将 Python、模型与数据目录释放到用户数据目录。</a:t>
            </a:r>
          </a:p>
        </p:txBody>
      </p:sp>
      <p:sp>
        <p:nvSpPr>
          <p:cNvPr id="13" name="desktop-dot-1">
            <a:extLst xmlns:a="http://schemas.openxmlformats.org/drawingml/2006/main">
              <a:ext uri="{FF2B5EF4-FFF2-40B4-BE49-F238E27FC236}">
                <a16:creationId xmlns:a16="http://schemas.microsoft.com/office/drawing/2014/main" id="{AE67F3E1-FE7F-49B4-A54B-7788C560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sktop-label-1">
            <a:extLst xmlns:a="http://schemas.openxmlformats.org/drawingml/2006/main">
              <a:ext uri="{FF2B5EF4-FFF2-40B4-BE49-F238E27FC236}">
                <a16:creationId xmlns:a16="http://schemas.microsoft.com/office/drawing/2014/main" id="{83F872F5-594D-4573-BD83-01F06C20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81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首次启动</a:t>
            </a:r>
          </a:p>
        </p:txBody>
      </p:sp>
      <p:sp>
        <p:nvSpPr>
          <p:cNvPr id="15" name="desktop-card-2">
            <a:extLst xmlns:a="http://schemas.openxmlformats.org/drawingml/2006/main">
              <a:ext uri="{FF2B5EF4-FFF2-40B4-BE49-F238E27FC236}">
                <a16:creationId xmlns:a16="http://schemas.microsoft.com/office/drawing/2014/main" id="{DC0EDF09-B91D-4A3E-BC07-DEFDECDB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desktop-title-2">
            <a:extLst xmlns:a="http://schemas.openxmlformats.org/drawingml/2006/main">
              <a:ext uri="{FF2B5EF4-FFF2-40B4-BE49-F238E27FC236}">
                <a16:creationId xmlns:a16="http://schemas.microsoft.com/office/drawing/2014/main" id="{2DA57585-9B84-4836-B3B3-F375CEFD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日常启动与回收</a:t>
            </a:r>
          </a:p>
        </p:txBody>
      </p:sp>
      <p:sp>
        <p:nvSpPr>
          <p:cNvPr id="17" name="desktop-body-2">
            <a:extLst xmlns:a="http://schemas.openxmlformats.org/drawingml/2006/main">
              <a:ext uri="{FF2B5EF4-FFF2-40B4-BE49-F238E27FC236}">
                <a16:creationId xmlns:a16="http://schemas.microsoft.com/office/drawing/2014/main" id="{CA03721B-BDE0-45F7-B76C-52E83290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705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单实例锁 → splash → 启动 FastAPI → 轮询 /api/health → 加载前端；退出时终止后端进程树。</a:t>
            </a:r>
          </a:p>
        </p:txBody>
      </p:sp>
      <p:sp>
        <p:nvSpPr>
          <p:cNvPr id="18" name="desktop-dot-2">
            <a:extLst xmlns:a="http://schemas.openxmlformats.org/drawingml/2006/main">
              <a:ext uri="{FF2B5EF4-FFF2-40B4-BE49-F238E27FC236}">
                <a16:creationId xmlns:a16="http://schemas.microsoft.com/office/drawing/2014/main" id="{4E6DDBCB-987A-4EFA-9CC3-CA4DD2A8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sktop-label-2">
            <a:extLst xmlns:a="http://schemas.openxmlformats.org/drawingml/2006/main">
              <a:ext uri="{FF2B5EF4-FFF2-40B4-BE49-F238E27FC236}">
                <a16:creationId xmlns:a16="http://schemas.microsoft.com/office/drawing/2014/main" id="{2D2B0F54-31AD-4F4F-932D-A66A06FD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81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每次启动</a:t>
            </a:r>
          </a:p>
        </p:txBody>
      </p:sp>
      <p:sp>
        <p:nvSpPr>
          <p:cNvPr id="20" name="desktop-note">
            <a:extLst xmlns:a="http://schemas.openxmlformats.org/drawingml/2006/main">
              <a:ext uri="{FF2B5EF4-FFF2-40B4-BE49-F238E27FC236}">
                <a16:creationId xmlns:a16="http://schemas.microsoft.com/office/drawing/2014/main" id="{5EEB4948-BF8A-4020-BB18-BE713CC2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交付形态：electron-builder + NSIS x64，一键安装、创建桌面/开始菜单快捷方式，卸载默认保留用户知识库。</a:t>
            </a:r>
          </a:p>
        </p:txBody>
      </p:sp>
    </p:spTree>
    <p:extLst>
      <p:ext uri="{BB962C8B-B14F-4D97-AF65-F5344CB8AC3E}">
        <p14:creationId xmlns:p14="http://schemas.microsoft.com/office/powerpoint/2010/main" val="13140758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E6BC3B20-4021-40BB-B455-A23D1CE1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总结与下一步</a:t>
            </a:r>
          </a:p>
        </p:txBody>
      </p:sp>
      <p:sp>
        <p:nvSpPr>
          <p:cNvPr id="2" name="close-main">
            <a:extLst xmlns:a="http://schemas.openxmlformats.org/drawingml/2006/main">
              <a:ext uri="{FF2B5EF4-FFF2-40B4-BE49-F238E27FC236}">
                <a16:creationId xmlns:a16="http://schemas.microsoft.com/office/drawing/2014/main" id="{35D3F270-4C69-4153-A103-299290D6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我完成的不是一个聊天页面，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而是一条从资料到可信答案的完整链路</a:t>
            </a:r>
          </a:p>
        </p:txBody>
      </p:sp>
      <p:sp>
        <p:nvSpPr>
          <p:cNvPr id="3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CA360552-C7AB-4676-946E-C230432C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114300" cy="20002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achievement">
            <a:extLst xmlns:a="http://schemas.openxmlformats.org/drawingml/2006/main">
              <a:ext uri="{FF2B5EF4-FFF2-40B4-BE49-F238E27FC236}">
                <a16:creationId xmlns:a16="http://schemas.microsoft.com/office/drawing/2014/main" id="{8F0AE669-5B1C-4AA2-803D-9977499F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5" name="close-achievement-body">
            <a:extLst xmlns:a="http://schemas.openxmlformats.org/drawingml/2006/main">
              <a:ext uri="{FF2B5EF4-FFF2-40B4-BE49-F238E27FC236}">
                <a16:creationId xmlns:a16="http://schemas.microsoft.com/office/drawing/2014/main" id="{36E41D5B-4AE3-47B9-B7AB-B181F032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多格式入库 → 混合检索 → 引用问答 → 本地资料管理 → Windows 桌面交付</a:t>
            </a:r>
          </a:p>
        </p:txBody>
      </p:sp>
      <p:sp>
        <p:nvSpPr>
          <p:cNvPr id="6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62F2C05C-8748-421F-B6D1-F9370B0E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5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8A00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7" name="close-boundary-body">
            <a:extLst xmlns:a="http://schemas.openxmlformats.org/drawingml/2006/main">
              <a:ext uri="{FF2B5EF4-FFF2-40B4-BE49-F238E27FC236}">
                <a16:creationId xmlns:a16="http://schemas.microsoft.com/office/drawing/2014/main" id="{3230D18D-B70E-4ECE-9A5D-ED708356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本机密钥仍是明文、OJ 证书策略需收紧、前端包体较大、自动化测试覆盖不足</a:t>
            </a:r>
          </a:p>
        </p:txBody>
      </p:sp>
      <p:sp>
        <p:nvSpPr>
          <p:cNvPr id="8" name="close-next">
            <a:extLst xmlns:a="http://schemas.openxmlformats.org/drawingml/2006/main">
              <a:ext uri="{FF2B5EF4-FFF2-40B4-BE49-F238E27FC236}">
                <a16:creationId xmlns:a16="http://schemas.microsoft.com/office/drawing/2014/main" id="{53CA78B8-978E-4AC2-BA31-361CF7C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9" name="close-next-body">
            <a:extLst xmlns:a="http://schemas.openxmlformats.org/drawingml/2006/main">
              <a:ext uri="{FF2B5EF4-FFF2-40B4-BE49-F238E27FC236}">
                <a16:creationId xmlns:a16="http://schemas.microsoft.com/office/drawing/2014/main" id="{2BC60F54-837B-475A-873F-AA6C176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06B"/>
                </a:solidFill>
                <a:latin typeface="Microsoft YaHei"/>
                <a:ea typeface="Microsoft YaHei"/>
                <a:cs typeface="Microsoft YaHei"/>
              </a:rPr>
              <a:t>凭据加密 + API_BASE 统一配置 + 代码拆包 + 单元/接口/E2E 测试 + 安装包签名</a:t>
            </a:r>
          </a:p>
        </p:txBody>
      </p:sp>
      <p:sp>
        <p:nvSpPr>
          <p:cNvPr id="10" name="close-qa">
            <a:extLst xmlns:a="http://schemas.openxmlformats.org/drawingml/2006/main">
              <a:ext uri="{FF2B5EF4-FFF2-40B4-BE49-F238E27FC236}">
                <a16:creationId xmlns:a16="http://schemas.microsoft.com/office/drawing/2014/main" id="{8E898D9E-578E-436E-BA73-3EFEEF98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674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239157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2026-07-15T16:50:17.6210000Z</dcterms:created>
  <dcterms:modified xsi:type="dcterms:W3CDTF">2026-07-15T16:50:17.6210000Z</dcterms:modified>
</coreProperties>
</file>
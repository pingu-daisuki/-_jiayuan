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kicker"/>
          <p:cNvSpPr>
            <a:spLocks noGrp="1"/>
          </p:cNvSpPr>
          <p:nvPr/>
        </p:nvSpPr>
        <p:spPr>
          <a:xfrm>
            <a:off x="495300" y="4000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小学期课程项目汇报</a:t>
            </a:r>
            <a:endParaRPr sz="1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495300" y="1238250"/>
            <a:ext cx="114300" cy="2952750"/>
          </a:xfrm>
          <a:prstGeom prst="roundRect">
            <a:avLst>
              <a:gd name="adj" fmla="val 1666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title-main"/>
          <p:cNvSpPr>
            <a:spLocks noGrp="1"/>
          </p:cNvSpPr>
          <p:nvPr/>
        </p:nvSpPr>
        <p:spPr>
          <a:xfrm>
            <a:off x="876300" y="1314450"/>
            <a:ext cx="857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5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厦大 </a:t>
            </a:r>
            <a:r>
              <a:rPr lang="en-US" sz="5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sz="5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JiaYuan</a:t>
            </a:r>
            <a:endParaRPr sz="5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itle-message"/>
          <p:cNvSpPr>
            <a:spLocks noGrp="1"/>
          </p:cNvSpPr>
          <p:nvPr/>
        </p:nvSpPr>
        <p:spPr>
          <a:xfrm>
            <a:off x="876300" y="2324100"/>
            <a:ext cx="9334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9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把课程资料变成可检索、</a:t>
            </a:r>
            <a:endParaRPr sz="39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39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可追溯的本地知识库</a:t>
            </a:r>
            <a:endParaRPr sz="39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itle-sub"/>
          <p:cNvSpPr>
            <a:spLocks noGrp="1"/>
          </p:cNvSpPr>
          <p:nvPr/>
        </p:nvSpPr>
        <p:spPr>
          <a:xfrm>
            <a:off x="876300" y="489585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itle-meta"/>
          <p:cNvSpPr>
            <a:spLocks noGrp="1"/>
          </p:cNvSpPr>
          <p:nvPr/>
        </p:nvSpPr>
        <p:spPr>
          <a:xfrm>
            <a:off x="876300" y="554355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zh-CN"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苏镕堃</a:t>
            </a:r>
            <a:r>
              <a: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2026.07</a:t>
            </a:r>
            <a:endParaRPr sz="150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tle-mark"/>
          <p:cNvSpPr>
            <a:spLocks noGrp="1"/>
          </p:cNvSpPr>
          <p:nvPr/>
        </p:nvSpPr>
        <p:spPr>
          <a:xfrm>
            <a:off x="10001250" y="6000750"/>
            <a:ext cx="1695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19"/>
          </a:bodyPr>
          <a:lstStyle/>
          <a:p>
            <a:pPr algn="r">
              <a:buNone/>
              <a:def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JIAYUAN</a:t>
            </a:r>
            <a:endParaRPr sz="10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2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项目定位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2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这个项目解决的是：资料很多，但很难快速找到可信答案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2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roblem-big-0"/>
          <p:cNvSpPr>
            <a:spLocks noGrp="1"/>
          </p:cNvSpPr>
          <p:nvPr/>
        </p:nvSpPr>
        <p:spPr>
          <a:xfrm>
            <a:off x="495300" y="1866900"/>
            <a:ext cx="314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4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roblem-title-0"/>
          <p:cNvSpPr>
            <a:spLocks noGrp="1"/>
          </p:cNvSpPr>
          <p:nvPr/>
        </p:nvSpPr>
        <p:spPr>
          <a:xfrm>
            <a:off x="495300" y="28765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信息分散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roblem-body-0"/>
          <p:cNvSpPr>
            <a:spLocks noGrp="1"/>
          </p:cNvSpPr>
          <p:nvPr/>
        </p:nvSpPr>
        <p:spPr>
          <a:xfrm>
            <a:off x="495300" y="3429000"/>
            <a:ext cx="3143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PDF、PPT、Word 与网页散落在不同课程和文件夹中，缺少统一入口。</a:t>
            </a:r>
            <a:endParaRPr sz="150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roblem-big-1"/>
          <p:cNvSpPr>
            <a:spLocks noGrp="1"/>
          </p:cNvSpPr>
          <p:nvPr/>
        </p:nvSpPr>
        <p:spPr>
          <a:xfrm>
            <a:off x="4171950" y="1866900"/>
            <a:ext cx="314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roblem-title-1"/>
          <p:cNvSpPr>
            <a:spLocks noGrp="1"/>
          </p:cNvSpPr>
          <p:nvPr/>
        </p:nvSpPr>
        <p:spPr>
          <a:xfrm>
            <a:off x="4171950" y="28765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定位低效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roblem-body-1"/>
          <p:cNvSpPr>
            <a:spLocks noGrp="1"/>
          </p:cNvSpPr>
          <p:nvPr/>
        </p:nvSpPr>
        <p:spPr>
          <a:xfrm>
            <a:off x="4171950" y="3429000"/>
            <a:ext cx="3143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全文翻找耗时；扫描版 PDF 还需要 OCR，复杂版面更难直接提取。</a:t>
            </a:r>
            <a:endParaRPr sz="150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roblem-big-2"/>
          <p:cNvSpPr>
            <a:spLocks noGrp="1"/>
          </p:cNvSpPr>
          <p:nvPr/>
        </p:nvSpPr>
        <p:spPr>
          <a:xfrm>
            <a:off x="7848600" y="1866900"/>
            <a:ext cx="314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4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roblem-title-2"/>
          <p:cNvSpPr>
            <a:spLocks noGrp="1"/>
          </p:cNvSpPr>
          <p:nvPr/>
        </p:nvSpPr>
        <p:spPr>
          <a:xfrm>
            <a:off x="7848600" y="28765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答案难验证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roblem-body-2"/>
          <p:cNvSpPr>
            <a:spLocks noGrp="1"/>
          </p:cNvSpPr>
          <p:nvPr/>
        </p:nvSpPr>
        <p:spPr>
          <a:xfrm>
            <a:off x="7848600" y="3429000"/>
            <a:ext cx="3143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普通聊天可以给出结论，却常常缺少页码、幻灯片或章节来源。</a:t>
            </a:r>
            <a:endParaRPr sz="150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problem-rule"/>
          <p:cNvCxnSpPr/>
          <p:nvPr/>
        </p:nvCxnSpPr>
        <p:spPr>
          <a:xfrm>
            <a:off x="495300" y="5257800"/>
            <a:ext cx="112014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4" name="problem-answer"/>
          <p:cNvSpPr>
            <a:spLocks noGrp="1"/>
          </p:cNvSpPr>
          <p:nvPr/>
        </p:nvSpPr>
        <p:spPr>
          <a:xfrm>
            <a:off x="495300" y="556260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我的选择：做一个本地优先、带引用的课程知识库，并把常用校园工具集中到同一桌面端。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3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功能全景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3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JiaYuan 已形成 6 个可切换的学习工作区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3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eature-1-circl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95300" y="1657350"/>
            <a:ext cx="361950" cy="3619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feature-1-number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95300" y="1666875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feature-1-title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09650" y="16478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XMU_RAG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eature-1-body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9650" y="203835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拖拽/URL 导入、范围检索、流式问答、引用跳转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eature-2-circle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00800" y="1657350"/>
            <a:ext cx="361950" cy="3619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feature-2-number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00800" y="1666875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feature-2-title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15150" y="1647825"/>
            <a:ext cx="478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XMU_Library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feature-2-body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915150" y="2038350"/>
            <a:ext cx="4781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课程树、模糊搜索、移动/删除、预览与重新索引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eature-3-circle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" y="3028950"/>
            <a:ext cx="361950" cy="36195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4" name="feature-3-number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95300" y="3038475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feature-3-title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009650" y="30194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XMU_RollCall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feature-3-body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009650" y="340995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统一身份认证、签到策略、流式任务日志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eature-4-circle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400800" y="3028950"/>
            <a:ext cx="361950" cy="36195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8" name="feature-4-number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400800" y="3038475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feature-4-title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915150" y="3019425"/>
            <a:ext cx="478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XMU_DeadLines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feature-4-body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915150" y="3409950"/>
            <a:ext cx="4781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同步课程作业与考试截止时间，按紧急度展示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feature-5-circle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95300" y="4400550"/>
            <a:ext cx="361950" cy="3619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feature-5-number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95300" y="4410075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feature-5-title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009650" y="43910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XMU_OJ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feature-5-body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1009650" y="4781550"/>
            <a:ext cx="468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读取实验题目、模型生成代码、提交并轮询评测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feature-6-circle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6400800" y="4400550"/>
            <a:ext cx="361950" cy="3619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feature-6-number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6400800" y="4410075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feature-6-title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6915150" y="4391025"/>
            <a:ext cx="4781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Settings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feature-6-body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6915150" y="4781550"/>
            <a:ext cx="4781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多模型配置、PyMuPDF/Marker/MinerU 与 CPU/GPU 初始化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workspace-note"/>
          <p:cNvSpPr>
            <a:spLocks noGrp="1"/>
          </p:cNvSpPr>
          <p:nvPr/>
        </p:nvSpPr>
        <p:spPr>
          <a:xfrm>
            <a:off x="495300" y="5867400"/>
            <a:ext cx="1057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主界面通过 KeepAlive 保留各模块状态，适合在问答、资料管理和校园任务之间来回切换。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4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系统架构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4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四层分工让界面、业务、数据和桌面交付彼此解耦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4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arch-arrow-0"/>
          <p:cNvCxnSpPr/>
          <p:nvPr/>
        </p:nvCxnSpPr>
        <p:spPr>
          <a:xfrm>
            <a:off x="2571750" y="3086100"/>
            <a:ext cx="5334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39" name="arch-arrow-1"/>
          <p:cNvCxnSpPr/>
          <p:nvPr/>
        </p:nvCxnSpPr>
        <p:spPr>
          <a:xfrm>
            <a:off x="5067300" y="3086100"/>
            <a:ext cx="5334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40" name="arch-arrow-2"/>
          <p:cNvCxnSpPr/>
          <p:nvPr/>
        </p:nvCxnSpPr>
        <p:spPr>
          <a:xfrm>
            <a:off x="7562850" y="3086100"/>
            <a:ext cx="5334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7" name="arch-card-0"/>
          <p:cNvSpPr>
            <a:spLocks noGrp="1"/>
          </p:cNvSpPr>
          <p:nvPr/>
        </p:nvSpPr>
        <p:spPr>
          <a:xfrm>
            <a:off x="609600" y="2343150"/>
            <a:ext cx="1962150" cy="2133600"/>
          </a:xfrm>
          <a:prstGeom prst="roundRect">
            <a:avLst>
              <a:gd name="adj" fmla="val 5825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arch-card-title-0"/>
          <p:cNvSpPr>
            <a:spLocks noGrp="1"/>
          </p:cNvSpPr>
          <p:nvPr/>
        </p:nvSpPr>
        <p:spPr>
          <a:xfrm>
            <a:off x="800100" y="25527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前端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rch-card-body-0"/>
          <p:cNvSpPr>
            <a:spLocks noGrp="1"/>
          </p:cNvSpPr>
          <p:nvPr/>
        </p:nvSpPr>
        <p:spPr>
          <a:xfrm>
            <a:off x="800100" y="3124200"/>
            <a:ext cx="1581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Element Plus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交互与展示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ReadableStream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rch-card-1"/>
          <p:cNvSpPr>
            <a:spLocks noGrp="1"/>
          </p:cNvSpPr>
          <p:nvPr/>
        </p:nvSpPr>
        <p:spPr>
          <a:xfrm>
            <a:off x="3105150" y="2343150"/>
            <a:ext cx="1962150" cy="2133600"/>
          </a:xfrm>
          <a:prstGeom prst="roundRect">
            <a:avLst>
              <a:gd name="adj" fmla="val 5825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arch-card-title-1"/>
          <p:cNvSpPr>
            <a:spLocks noGrp="1"/>
          </p:cNvSpPr>
          <p:nvPr/>
        </p:nvSpPr>
        <p:spPr>
          <a:xfrm>
            <a:off x="3295650" y="25527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路由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rch-card-body-1"/>
          <p:cNvSpPr>
            <a:spLocks noGrp="1"/>
          </p:cNvSpPr>
          <p:nvPr/>
        </p:nvSpPr>
        <p:spPr>
          <a:xfrm>
            <a:off x="3295650" y="3124200"/>
            <a:ext cx="1581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592"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 / rag / library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campus / deadlines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oj / engine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rch-card-2"/>
          <p:cNvSpPr>
            <a:spLocks noGrp="1"/>
          </p:cNvSpPr>
          <p:nvPr/>
        </p:nvSpPr>
        <p:spPr>
          <a:xfrm>
            <a:off x="5600700" y="2343150"/>
            <a:ext cx="1962150" cy="2133600"/>
          </a:xfrm>
          <a:prstGeom prst="roundRect">
            <a:avLst>
              <a:gd name="adj" fmla="val 5825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4" name="arch-card-title-2"/>
          <p:cNvSpPr>
            <a:spLocks noGrp="1"/>
          </p:cNvSpPr>
          <p:nvPr/>
        </p:nvSpPr>
        <p:spPr>
          <a:xfrm>
            <a:off x="5791200" y="25527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业务核心层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rch-card-body-2"/>
          <p:cNvSpPr>
            <a:spLocks noGrp="1"/>
          </p:cNvSpPr>
          <p:nvPr/>
        </p:nvSpPr>
        <p:spPr>
          <a:xfrm>
            <a:off x="5791200" y="3124200"/>
            <a:ext cx="1581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文档解析与校验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检索与状态补偿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校园认证与 OJ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rch-card-3"/>
          <p:cNvSpPr>
            <a:spLocks noGrp="1"/>
          </p:cNvSpPr>
          <p:nvPr/>
        </p:nvSpPr>
        <p:spPr>
          <a:xfrm>
            <a:off x="8096250" y="2343150"/>
            <a:ext cx="1962150" cy="2133600"/>
          </a:xfrm>
          <a:prstGeom prst="roundRect">
            <a:avLst>
              <a:gd name="adj" fmla="val 5825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arch-card-title-3"/>
          <p:cNvSpPr>
            <a:spLocks noGrp="1"/>
          </p:cNvSpPr>
          <p:nvPr/>
        </p:nvSpPr>
        <p:spPr>
          <a:xfrm>
            <a:off x="8286750" y="25527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本地数据层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rch-card-body-3"/>
          <p:cNvSpPr>
            <a:spLocks noGrp="1"/>
          </p:cNvSpPr>
          <p:nvPr/>
        </p:nvSpPr>
        <p:spPr>
          <a:xfrm>
            <a:off x="8286750" y="3124200"/>
            <a:ext cx="1581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· Chroma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uploads · models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 flags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rch-electron-box"/>
          <p:cNvSpPr>
            <a:spLocks noGrp="1"/>
          </p:cNvSpPr>
          <p:nvPr/>
        </p:nvSpPr>
        <p:spPr>
          <a:xfrm>
            <a:off x="10344150" y="1844675"/>
            <a:ext cx="1390650" cy="3009900"/>
          </a:xfrm>
          <a:prstGeom prst="roundRect">
            <a:avLst>
              <a:gd name="adj" fmla="val 8219"/>
            </a:avLst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arch-electron-title"/>
          <p:cNvSpPr>
            <a:spLocks noGrp="1"/>
          </p:cNvSpPr>
          <p:nvPr/>
        </p:nvSpPr>
        <p:spPr>
          <a:xfrm>
            <a:off x="10420350" y="2152650"/>
            <a:ext cx="1162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Electron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rch-electron-body"/>
          <p:cNvSpPr>
            <a:spLocks noGrp="1"/>
          </p:cNvSpPr>
          <p:nvPr/>
        </p:nvSpPr>
        <p:spPr>
          <a:xfrm>
            <a:off x="10496550" y="2800350"/>
            <a:ext cx="10096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981"/>
          </a:bodyPr>
          <a:lstStyle/>
          <a:p>
            <a:pPr algn="ctr"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桌面壳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ctr"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 Python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模型归档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350"/>
          </a:p>
          <a:p>
            <a:pPr algn="ctr"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后端进程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探活与回收</a:t>
            </a:r>
            <a:endParaRPr sz="13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rch-mode-note"/>
          <p:cNvSpPr>
            <a:spLocks noGrp="1"/>
          </p:cNvSpPr>
          <p:nvPr/>
        </p:nvSpPr>
        <p:spPr>
          <a:xfrm>
            <a:off x="495300" y="54673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开发：Vue :5173 + FastAPI :8000    |    桌面：静态前端 + Electron 管理 FastAPI :8765</a:t>
            </a:r>
            <a:endParaRPr sz="150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5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RAG 入库链路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5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入库状态机让文档处理可观察、可恢复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5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4" name="ingest-arrow-0"/>
          <p:cNvCxnSpPr/>
          <p:nvPr/>
        </p:nvCxnSpPr>
        <p:spPr>
          <a:xfrm>
            <a:off x="22288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5" name="ingest-arrow-1"/>
          <p:cNvCxnSpPr/>
          <p:nvPr/>
        </p:nvCxnSpPr>
        <p:spPr>
          <a:xfrm>
            <a:off x="43624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6" name="ingest-arrow-2"/>
          <p:cNvCxnSpPr/>
          <p:nvPr/>
        </p:nvCxnSpPr>
        <p:spPr>
          <a:xfrm>
            <a:off x="64960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7" name="ingest-arrow-3"/>
          <p:cNvCxnSpPr/>
          <p:nvPr/>
        </p:nvCxnSpPr>
        <p:spPr>
          <a:xfrm>
            <a:off x="86296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8" name="ingest-node-0"/>
          <p:cNvSpPr>
            <a:spLocks noGrp="1"/>
          </p:cNvSpPr>
          <p:nvPr/>
        </p:nvSpPr>
        <p:spPr>
          <a:xfrm>
            <a:off x="8763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ingest-num-0"/>
          <p:cNvSpPr>
            <a:spLocks noGrp="1"/>
          </p:cNvSpPr>
          <p:nvPr/>
        </p:nvSpPr>
        <p:spPr>
          <a:xfrm>
            <a:off x="8763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ingest-title-0"/>
          <p:cNvSpPr>
            <a:spLocks noGrp="1"/>
          </p:cNvSpPr>
          <p:nvPr/>
        </p:nvSpPr>
        <p:spPr>
          <a:xfrm>
            <a:off x="5715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ingest-body-0"/>
          <p:cNvSpPr>
            <a:spLocks noGrp="1"/>
          </p:cNvSpPr>
          <p:nvPr/>
        </p:nvSpPr>
        <p:spPr>
          <a:xfrm>
            <a:off x="4762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032"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扩展名 / MIME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文件签名 / ZIP 安全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ingest-node-1"/>
          <p:cNvSpPr>
            <a:spLocks noGrp="1"/>
          </p:cNvSpPr>
          <p:nvPr/>
        </p:nvSpPr>
        <p:spPr>
          <a:xfrm>
            <a:off x="30099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ingest-num-1"/>
          <p:cNvSpPr>
            <a:spLocks noGrp="1"/>
          </p:cNvSpPr>
          <p:nvPr/>
        </p:nvSpPr>
        <p:spPr>
          <a:xfrm>
            <a:off x="30099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ingest-title-1"/>
          <p:cNvSpPr>
            <a:spLocks noGrp="1"/>
          </p:cNvSpPr>
          <p:nvPr/>
        </p:nvSpPr>
        <p:spPr>
          <a:xfrm>
            <a:off x="27051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ingest-body-1"/>
          <p:cNvSpPr>
            <a:spLocks noGrp="1"/>
          </p:cNvSpPr>
          <p:nvPr/>
        </p:nvSpPr>
        <p:spPr>
          <a:xfrm>
            <a:off x="26098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PyMuPDF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或视觉引擎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ngest-node-2"/>
          <p:cNvSpPr>
            <a:spLocks noGrp="1"/>
          </p:cNvSpPr>
          <p:nvPr/>
        </p:nvSpPr>
        <p:spPr>
          <a:xfrm>
            <a:off x="51435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ingest-num-2"/>
          <p:cNvSpPr>
            <a:spLocks noGrp="1"/>
          </p:cNvSpPr>
          <p:nvPr/>
        </p:nvSpPr>
        <p:spPr>
          <a:xfrm>
            <a:off x="51435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ingest-title-2"/>
          <p:cNvSpPr>
            <a:spLocks noGrp="1"/>
          </p:cNvSpPr>
          <p:nvPr/>
        </p:nvSpPr>
        <p:spPr>
          <a:xfrm>
            <a:off x="48387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切片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ingest-body-2"/>
          <p:cNvSpPr>
            <a:spLocks noGrp="1"/>
          </p:cNvSpPr>
          <p:nvPr/>
        </p:nvSpPr>
        <p:spPr>
          <a:xfrm>
            <a:off x="47434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章节优先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字 + 50 重叠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ingest-node-3"/>
          <p:cNvSpPr>
            <a:spLocks noGrp="1"/>
          </p:cNvSpPr>
          <p:nvPr/>
        </p:nvSpPr>
        <p:spPr>
          <a:xfrm>
            <a:off x="72771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ingest-num-3"/>
          <p:cNvSpPr>
            <a:spLocks noGrp="1"/>
          </p:cNvSpPr>
          <p:nvPr/>
        </p:nvSpPr>
        <p:spPr>
          <a:xfrm>
            <a:off x="72771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ingest-title-3"/>
          <p:cNvSpPr>
            <a:spLocks noGrp="1"/>
          </p:cNvSpPr>
          <p:nvPr/>
        </p:nvSpPr>
        <p:spPr>
          <a:xfrm>
            <a:off x="69723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ingest-body-3"/>
          <p:cNvSpPr>
            <a:spLocks noGrp="1"/>
          </p:cNvSpPr>
          <p:nvPr/>
        </p:nvSpPr>
        <p:spPr>
          <a:xfrm>
            <a:off x="68770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BGE embedding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 Chroma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ingest-node-4"/>
          <p:cNvSpPr>
            <a:spLocks noGrp="1"/>
          </p:cNvSpPr>
          <p:nvPr/>
        </p:nvSpPr>
        <p:spPr>
          <a:xfrm>
            <a:off x="9410700" y="2247900"/>
            <a:ext cx="800100" cy="800100"/>
          </a:xfrm>
          <a:prstGeom prst="ellipse">
            <a:avLst/>
          </a:prstGeom>
          <a:solidFill>
            <a:srgbClr val="22A06B"/>
          </a:solidFill>
          <a:ln w="0">
            <a:noFill/>
            <a:prstDash val="solid"/>
          </a:ln>
        </p:spPr>
      </p:sp>
      <p:sp>
        <p:nvSpPr>
          <p:cNvPr id="25" name="ingest-num-4"/>
          <p:cNvSpPr>
            <a:spLocks noGrp="1"/>
          </p:cNvSpPr>
          <p:nvPr/>
        </p:nvSpPr>
        <p:spPr>
          <a:xfrm>
            <a:off x="94107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ingest-title-4"/>
          <p:cNvSpPr>
            <a:spLocks noGrp="1"/>
          </p:cNvSpPr>
          <p:nvPr/>
        </p:nvSpPr>
        <p:spPr>
          <a:xfrm>
            <a:off x="91059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就绪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ingest-body-4"/>
          <p:cNvSpPr>
            <a:spLocks noGrp="1"/>
          </p:cNvSpPr>
          <p:nvPr/>
        </p:nvSpPr>
        <p:spPr>
          <a:xfrm>
            <a:off x="90106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记录页数、耗时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 数与引擎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8" name="ingest-rule"/>
          <p:cNvCxnSpPr/>
          <p:nvPr/>
        </p:nvCxnSpPr>
        <p:spPr>
          <a:xfrm>
            <a:off x="495300" y="4762500"/>
            <a:ext cx="112014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9" name="ingest-dedup-title"/>
          <p:cNvSpPr>
            <a:spLocks noGrp="1"/>
          </p:cNvSpPr>
          <p:nvPr/>
        </p:nvSpPr>
        <p:spPr>
          <a:xfrm>
            <a:off x="6477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去重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ingest-dedup-body"/>
          <p:cNvSpPr>
            <a:spLocks noGrp="1"/>
          </p:cNvSpPr>
          <p:nvPr/>
        </p:nvSpPr>
        <p:spPr>
          <a:xfrm>
            <a:off x="647700" y="54102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SHA‑256 复用已就绪文件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ingest-state-title"/>
          <p:cNvSpPr>
            <a:spLocks noGrp="1"/>
          </p:cNvSpPr>
          <p:nvPr/>
        </p:nvSpPr>
        <p:spPr>
          <a:xfrm>
            <a:off x="40767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ingest-state-body"/>
          <p:cNvSpPr>
            <a:spLocks noGrp="1"/>
          </p:cNvSpPr>
          <p:nvPr/>
        </p:nvSpPr>
        <p:spPr>
          <a:xfrm>
            <a:off x="4076700" y="5410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558"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uploaded → parsing → indexing → ready / failed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ingest-comp-title"/>
          <p:cNvSpPr>
            <a:spLocks noGrp="1"/>
          </p:cNvSpPr>
          <p:nvPr/>
        </p:nvSpPr>
        <p:spPr>
          <a:xfrm>
            <a:off x="87630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补偿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ingest-comp-body"/>
          <p:cNvSpPr>
            <a:spLocks noGrp="1"/>
          </p:cNvSpPr>
          <p:nvPr/>
        </p:nvSpPr>
        <p:spPr>
          <a:xfrm>
            <a:off x="8763000" y="54102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失败按 file_id 清理孤儿向量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6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RAG 问答链路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6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答案可信度来自“混合检索 + 证据门槛 + 可点击引用”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6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trieval-num-0"/>
          <p:cNvSpPr>
            <a:spLocks noGrp="1"/>
          </p:cNvSpPr>
          <p:nvPr/>
        </p:nvSpPr>
        <p:spPr>
          <a:xfrm>
            <a:off x="495300" y="1695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trieval-title-0"/>
          <p:cNvSpPr>
            <a:spLocks noGrp="1"/>
          </p:cNvSpPr>
          <p:nvPr/>
        </p:nvSpPr>
        <p:spPr>
          <a:xfrm>
            <a:off x="1371600" y="1695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范围过滤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trieval-body-0"/>
          <p:cNvSpPr>
            <a:spLocks noGrp="1"/>
          </p:cNvSpPr>
          <p:nvPr/>
        </p:nvSpPr>
        <p:spPr>
          <a:xfrm>
            <a:off x="1371600" y="2152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course_id 与 file_ids 先限定检索范围，避免跨课程混入。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trieval-num-1"/>
          <p:cNvSpPr>
            <a:spLocks noGrp="1"/>
          </p:cNvSpPr>
          <p:nvPr/>
        </p:nvSpPr>
        <p:spPr>
          <a:xfrm>
            <a:off x="6305550" y="1695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trieval-title-1"/>
          <p:cNvSpPr>
            <a:spLocks noGrp="1"/>
          </p:cNvSpPr>
          <p:nvPr/>
        </p:nvSpPr>
        <p:spPr>
          <a:xfrm>
            <a:off x="7181850" y="1695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混合召回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trieval-body-1"/>
          <p:cNvSpPr>
            <a:spLocks noGrp="1"/>
          </p:cNvSpPr>
          <p:nvPr/>
        </p:nvSpPr>
        <p:spPr>
          <a:xfrm>
            <a:off x="7181850" y="2152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Chroma 向量 Top 10 与 BM25 / 查询覆盖率共同计分。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trieval-num-2"/>
          <p:cNvSpPr>
            <a:spLocks noGrp="1"/>
          </p:cNvSpPr>
          <p:nvPr/>
        </p:nvSpPr>
        <p:spPr>
          <a:xfrm>
            <a:off x="495300" y="3600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trieval-title-2"/>
          <p:cNvSpPr>
            <a:spLocks noGrp="1"/>
          </p:cNvSpPr>
          <p:nvPr/>
        </p:nvSpPr>
        <p:spPr>
          <a:xfrm>
            <a:off x="1371600" y="3600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质量筛选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trieval-body-2"/>
          <p:cNvSpPr>
            <a:spLocks noGrp="1"/>
          </p:cNvSpPr>
          <p:nvPr/>
        </p:nvSpPr>
        <p:spPr>
          <a:xfrm>
            <a:off x="1371600" y="4057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MMR 去重，可选 CrossEncoder；最低相关度默认 0.55。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trieval-num-3"/>
          <p:cNvSpPr>
            <a:spLocks noGrp="1"/>
          </p:cNvSpPr>
          <p:nvPr/>
        </p:nvSpPr>
        <p:spPr>
          <a:xfrm>
            <a:off x="6305550" y="3600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trieval-title-3"/>
          <p:cNvSpPr>
            <a:spLocks noGrp="1"/>
          </p:cNvSpPr>
          <p:nvPr/>
        </p:nvSpPr>
        <p:spPr>
          <a:xfrm>
            <a:off x="7181850" y="3600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来源追踪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trieval-body-3"/>
          <p:cNvSpPr>
            <a:spLocks noGrp="1"/>
          </p:cNvSpPr>
          <p:nvPr/>
        </p:nvSpPr>
        <p:spPr>
          <a:xfrm>
            <a:off x="7181850" y="4057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 Top 3 保留页码、幻灯片、章节、引擎与文件来源。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trieval-outcome"/>
          <p:cNvSpPr>
            <a:spLocks noGrp="1"/>
          </p:cNvSpPr>
          <p:nvPr/>
        </p:nvSpPr>
        <p:spPr>
          <a:xfrm>
            <a:off x="495300" y="5429250"/>
            <a:ext cx="11201400" cy="66675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8" name="retrieval-outcome-text"/>
          <p:cNvSpPr>
            <a:spLocks noGrp="1"/>
          </p:cNvSpPr>
          <p:nvPr/>
        </p:nvSpPr>
        <p:spPr>
          <a:xfrm>
            <a:off x="742950" y="5600700"/>
            <a:ext cx="10706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资料不足 → 明确返回“没有足够依据”    |    资料充分 → 注入上下文，再流式调用大模型生成答案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7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· 文档解析策略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7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同一条管线兼容 6 类资料，复杂 PDF 按需升级解析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7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parse-timeline"/>
          <p:cNvCxnSpPr/>
          <p:nvPr/>
        </p:nvCxnSpPr>
        <p:spPr>
          <a:xfrm>
            <a:off x="914400" y="4933950"/>
            <a:ext cx="103632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parse-card-0"/>
          <p:cNvSpPr>
            <a:spLocks noGrp="1"/>
          </p:cNvSpPr>
          <p:nvPr/>
        </p:nvSpPr>
        <p:spPr>
          <a:xfrm>
            <a:off x="914400" y="1771650"/>
            <a:ext cx="3048000" cy="2781300"/>
          </a:xfrm>
          <a:prstGeom prst="roundRect">
            <a:avLst>
              <a:gd name="adj" fmla="val 4110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parse-card-title-0"/>
          <p:cNvSpPr>
            <a:spLocks noGrp="1"/>
          </p:cNvSpPr>
          <p:nvPr/>
        </p:nvSpPr>
        <p:spPr>
          <a:xfrm>
            <a:off x="1143000" y="203835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轻量原生解析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rse-card-body-0"/>
          <p:cNvSpPr>
            <a:spLocks noGrp="1"/>
          </p:cNvSpPr>
          <p:nvPr/>
        </p:nvSpPr>
        <p:spPr>
          <a:xfrm>
            <a:off x="1143000" y="2609850"/>
            <a:ext cx="2590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/ DOCX / PPTX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Markdown / HTML / URL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425"/>
          </a:p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优先使用格式原生结构，速度快、依赖轻。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arse-dot-0"/>
          <p:cNvSpPr>
            <a:spLocks noGrp="1"/>
          </p:cNvSpPr>
          <p:nvPr/>
        </p:nvSpPr>
        <p:spPr>
          <a:xfrm>
            <a:off x="857250" y="485775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parse-label-0"/>
          <p:cNvSpPr>
            <a:spLocks noGrp="1"/>
          </p:cNvSpPr>
          <p:nvPr/>
        </p:nvSpPr>
        <p:spPr>
          <a:xfrm>
            <a:off x="9144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rse-card-1"/>
          <p:cNvSpPr>
            <a:spLocks noGrp="1"/>
          </p:cNvSpPr>
          <p:nvPr/>
        </p:nvSpPr>
        <p:spPr>
          <a:xfrm>
            <a:off x="4419600" y="1771650"/>
            <a:ext cx="3048000" cy="2781300"/>
          </a:xfrm>
          <a:prstGeom prst="roundRect">
            <a:avLst>
              <a:gd name="adj" fmla="val 4110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parse-card-title-1"/>
          <p:cNvSpPr>
            <a:spLocks noGrp="1"/>
          </p:cNvSpPr>
          <p:nvPr/>
        </p:nvSpPr>
        <p:spPr>
          <a:xfrm>
            <a:off x="4648200" y="203835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扫描页自动兜底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rse-card-body-1"/>
          <p:cNvSpPr>
            <a:spLocks noGrp="1"/>
          </p:cNvSpPr>
          <p:nvPr/>
        </p:nvSpPr>
        <p:spPr>
          <a:xfrm>
            <a:off x="4648200" y="2609850"/>
            <a:ext cx="2590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PyMuPDF 发现页面无有效文本时，自动调用内置 Tesseract 中文 OCR。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rse-dot-1"/>
          <p:cNvSpPr>
            <a:spLocks noGrp="1"/>
          </p:cNvSpPr>
          <p:nvPr/>
        </p:nvSpPr>
        <p:spPr>
          <a:xfrm>
            <a:off x="4362450" y="485775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4" name="parse-label-1"/>
          <p:cNvSpPr>
            <a:spLocks noGrp="1"/>
          </p:cNvSpPr>
          <p:nvPr/>
        </p:nvSpPr>
        <p:spPr>
          <a:xfrm>
            <a:off x="44196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按页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rse-card-2"/>
          <p:cNvSpPr>
            <a:spLocks noGrp="1"/>
          </p:cNvSpPr>
          <p:nvPr/>
        </p:nvSpPr>
        <p:spPr>
          <a:xfrm>
            <a:off x="7924800" y="1771650"/>
            <a:ext cx="3048000" cy="2781300"/>
          </a:xfrm>
          <a:prstGeom prst="roundRect">
            <a:avLst>
              <a:gd name="adj" fmla="val 4110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6" name="parse-card-title-2"/>
          <p:cNvSpPr>
            <a:spLocks noGrp="1"/>
          </p:cNvSpPr>
          <p:nvPr/>
        </p:nvSpPr>
        <p:spPr>
          <a:xfrm>
            <a:off x="8153400" y="203835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复杂版面视觉解析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parse-card-body-2"/>
          <p:cNvSpPr>
            <a:spLocks noGrp="1"/>
          </p:cNvSpPr>
          <p:nvPr/>
        </p:nvSpPr>
        <p:spPr>
          <a:xfrm>
            <a:off x="8153400" y="2609850"/>
            <a:ext cx="2590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Marker / MinerU 按需安装；支持 CPU/GPU、完整性检查、真实 PDF 探针与超时回收。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parse-dot-2"/>
          <p:cNvSpPr>
            <a:spLocks noGrp="1"/>
          </p:cNvSpPr>
          <p:nvPr/>
        </p:nvSpPr>
        <p:spPr>
          <a:xfrm>
            <a:off x="7867650" y="485775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9" name="parse-label-2"/>
          <p:cNvSpPr>
            <a:spLocks noGrp="1"/>
          </p:cNvSpPr>
          <p:nvPr/>
        </p:nvSpPr>
        <p:spPr>
          <a:xfrm>
            <a:off x="79248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</a:t>
            </a:r>
            <a:endParaRPr sz="1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parse-unified"/>
          <p:cNvSpPr>
            <a:spLocks noGrp="1"/>
          </p:cNvSpPr>
          <p:nvPr/>
        </p:nvSpPr>
        <p:spPr>
          <a:xfrm>
            <a:off x="495300" y="59055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所有解析器最终统一输出 text / section / location_type / location_index，进入同一切片、检索与引用流程。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8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· 桌面交付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8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Electron 将项目封装为无需预装环境的 Windows 应用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8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desktop-line"/>
          <p:cNvCxnSpPr/>
          <p:nvPr/>
        </p:nvCxnSpPr>
        <p:spPr>
          <a:xfrm>
            <a:off x="685800" y="5334000"/>
            <a:ext cx="106680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desktop-card-0"/>
          <p:cNvSpPr>
            <a:spLocks noGrp="1"/>
          </p:cNvSpPr>
          <p:nvPr/>
        </p:nvSpPr>
        <p:spPr>
          <a:xfrm>
            <a:off x="609600" y="171450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desktop-title-0"/>
          <p:cNvSpPr>
            <a:spLocks noGrp="1"/>
          </p:cNvSpPr>
          <p:nvPr/>
        </p:nvSpPr>
        <p:spPr>
          <a:xfrm>
            <a:off x="876300" y="20764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构建私有运行时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desktop-body-0"/>
          <p:cNvSpPr>
            <a:spLocks noGrp="1"/>
          </p:cNvSpPr>
          <p:nvPr/>
        </p:nvSpPr>
        <p:spPr>
          <a:xfrm>
            <a:off x="876300" y="2762250"/>
            <a:ext cx="2705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下载嵌入式 Python，安装后端依赖与基础 BGE 模型，离线导入验证后生成 runtime tar。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desktop-dot-0"/>
          <p:cNvSpPr>
            <a:spLocks noGrp="1"/>
          </p:cNvSpPr>
          <p:nvPr/>
        </p:nvSpPr>
        <p:spPr>
          <a:xfrm>
            <a:off x="571500" y="5257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desktop-label-0"/>
          <p:cNvSpPr>
            <a:spLocks noGrp="1"/>
          </p:cNvSpPr>
          <p:nvPr/>
        </p:nvSpPr>
        <p:spPr>
          <a:xfrm>
            <a:off x="609600" y="55816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构建阶段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esktop-card-1"/>
          <p:cNvSpPr>
            <a:spLocks noGrp="1"/>
          </p:cNvSpPr>
          <p:nvPr/>
        </p:nvSpPr>
        <p:spPr>
          <a:xfrm>
            <a:off x="4324350" y="171450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desktop-title-1"/>
          <p:cNvSpPr>
            <a:spLocks noGrp="1"/>
          </p:cNvSpPr>
          <p:nvPr/>
        </p:nvSpPr>
        <p:spPr>
          <a:xfrm>
            <a:off x="4591050" y="20764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首次启动释放资源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esktop-body-1"/>
          <p:cNvSpPr>
            <a:spLocks noGrp="1"/>
          </p:cNvSpPr>
          <p:nvPr/>
        </p:nvSpPr>
        <p:spPr>
          <a:xfrm>
            <a:off x="4591050" y="2762250"/>
            <a:ext cx="2705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 runtime manifest，将 Python、模型与数据目录释放到用户数据目录。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desktop-dot-1"/>
          <p:cNvSpPr>
            <a:spLocks noGrp="1"/>
          </p:cNvSpPr>
          <p:nvPr/>
        </p:nvSpPr>
        <p:spPr>
          <a:xfrm>
            <a:off x="4286250" y="52578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desktop-label-1"/>
          <p:cNvSpPr>
            <a:spLocks noGrp="1"/>
          </p:cNvSpPr>
          <p:nvPr/>
        </p:nvSpPr>
        <p:spPr>
          <a:xfrm>
            <a:off x="4324350" y="55816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首次启动</a:t>
            </a:r>
            <a:endParaRPr sz="1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esktop-card-2"/>
          <p:cNvSpPr>
            <a:spLocks noGrp="1"/>
          </p:cNvSpPr>
          <p:nvPr/>
        </p:nvSpPr>
        <p:spPr>
          <a:xfrm>
            <a:off x="8039100" y="171450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desktop-title-2"/>
          <p:cNvSpPr>
            <a:spLocks noGrp="1"/>
          </p:cNvSpPr>
          <p:nvPr/>
        </p:nvSpPr>
        <p:spPr>
          <a:xfrm>
            <a:off x="8305800" y="20764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日常启动与回收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desktop-body-2"/>
          <p:cNvSpPr>
            <a:spLocks noGrp="1"/>
          </p:cNvSpPr>
          <p:nvPr/>
        </p:nvSpPr>
        <p:spPr>
          <a:xfrm>
            <a:off x="8305800" y="2762250"/>
            <a:ext cx="2705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单实例锁 → splash → 启动 FastAPI → 轮询 /api/health → 加载前端；退出时终止后端进程树。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esktop-dot-2"/>
          <p:cNvSpPr>
            <a:spLocks noGrp="1"/>
          </p:cNvSpPr>
          <p:nvPr/>
        </p:nvSpPr>
        <p:spPr>
          <a:xfrm>
            <a:off x="8001000" y="5257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desktop-label-2"/>
          <p:cNvSpPr>
            <a:spLocks noGrp="1"/>
          </p:cNvSpPr>
          <p:nvPr/>
        </p:nvSpPr>
        <p:spPr>
          <a:xfrm>
            <a:off x="8039100" y="55816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每次启动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desktop-note"/>
          <p:cNvSpPr>
            <a:spLocks noGrp="1"/>
          </p:cNvSpPr>
          <p:nvPr/>
        </p:nvSpPr>
        <p:spPr>
          <a:xfrm>
            <a:off x="495300" y="60960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交付形态：electron-builder + NSIS x64，一键安装、创建桌面/开始菜单快捷方式，卸载默认保留用户知识库。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9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· 完成度与验证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9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工程质量体现在“能构建、可恢复、边界清楚”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9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metric-files-value"/>
          <p:cNvSpPr>
            <a:spLocks noGrp="1"/>
          </p:cNvSpPr>
          <p:nvPr/>
        </p:nvSpPr>
        <p:spPr>
          <a:xfrm>
            <a:off x="495300" y="167640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31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etric-files-label"/>
          <p:cNvSpPr>
            <a:spLocks noGrp="1"/>
          </p:cNvSpPr>
          <p:nvPr/>
        </p:nvSpPr>
        <p:spPr>
          <a:xfrm>
            <a:off x="495300" y="22669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个自有 Python / Vue / JS 源文件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etric-lines-value"/>
          <p:cNvSpPr>
            <a:spLocks noGrp="1"/>
          </p:cNvSpPr>
          <p:nvPr/>
        </p:nvSpPr>
        <p:spPr>
          <a:xfrm>
            <a:off x="3333750" y="167640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7,990</a:t>
            </a:r>
            <a:endParaRPr sz="31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etric-lines-label"/>
          <p:cNvSpPr>
            <a:spLocks noGrp="1"/>
          </p:cNvSpPr>
          <p:nvPr/>
        </p:nvSpPr>
        <p:spPr>
          <a:xfrm>
            <a:off x="3333750" y="22669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行自有源码（本地统计）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etric-routes-value"/>
          <p:cNvSpPr>
            <a:spLocks noGrp="1"/>
          </p:cNvSpPr>
          <p:nvPr/>
        </p:nvSpPr>
        <p:spPr>
          <a:xfrm>
            <a:off x="6172200" y="167640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31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etric-routes-label"/>
          <p:cNvSpPr>
            <a:spLocks noGrp="1"/>
          </p:cNvSpPr>
          <p:nvPr/>
        </p:nvSpPr>
        <p:spPr>
          <a:xfrm>
            <a:off x="6172200" y="2266950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 FastAPI 路由模块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etric-build-value"/>
          <p:cNvSpPr>
            <a:spLocks noGrp="1"/>
          </p:cNvSpPr>
          <p:nvPr/>
        </p:nvSpPr>
        <p:spPr>
          <a:xfrm>
            <a:off x="8915400" y="1676400"/>
            <a:ext cx="2781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1,915</a:t>
            </a:r>
            <a:endParaRPr sz="31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etric-build-label"/>
          <p:cNvSpPr>
            <a:spLocks noGrp="1"/>
          </p:cNvSpPr>
          <p:nvPr/>
        </p:nvSpPr>
        <p:spPr>
          <a:xfrm>
            <a:off x="8915400" y="2266950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个前端模块完成生产构建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5" name="quality-rule"/>
          <p:cNvCxnSpPr/>
          <p:nvPr/>
        </p:nvCxnSpPr>
        <p:spPr>
          <a:xfrm>
            <a:off x="495300" y="3009900"/>
            <a:ext cx="112014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quality-check-0"/>
          <p:cNvSpPr>
            <a:spLocks noGrp="1"/>
          </p:cNvSpPr>
          <p:nvPr/>
        </p:nvSpPr>
        <p:spPr>
          <a:xfrm>
            <a:off x="495300" y="3486150"/>
            <a:ext cx="266700" cy="2667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quality-checkmark-0"/>
          <p:cNvSpPr>
            <a:spLocks noGrp="1"/>
          </p:cNvSpPr>
          <p:nvPr/>
        </p:nvSpPr>
        <p:spPr>
          <a:xfrm>
            <a:off x="495300" y="34766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quality-title-0"/>
          <p:cNvSpPr>
            <a:spLocks noGrp="1"/>
          </p:cNvSpPr>
          <p:nvPr/>
        </p:nvSpPr>
        <p:spPr>
          <a:xfrm>
            <a:off x="914400" y="346710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上传安全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quality-body-0"/>
          <p:cNvSpPr>
            <a:spLocks noGrp="1"/>
          </p:cNvSpPr>
          <p:nvPr/>
        </p:nvSpPr>
        <p:spPr>
          <a:xfrm>
            <a:off x="914400" y="381000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扩展名、MIME、签名、ZIP 炸弹与 100 MiB 上限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quality-check-1"/>
          <p:cNvSpPr>
            <a:spLocks noGrp="1"/>
          </p:cNvSpPr>
          <p:nvPr/>
        </p:nvSpPr>
        <p:spPr>
          <a:xfrm>
            <a:off x="6305550" y="3486150"/>
            <a:ext cx="266700" cy="2667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8" name="quality-checkmark-1"/>
          <p:cNvSpPr>
            <a:spLocks noGrp="1"/>
          </p:cNvSpPr>
          <p:nvPr/>
        </p:nvSpPr>
        <p:spPr>
          <a:xfrm>
            <a:off x="6305550" y="34766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quality-title-1"/>
          <p:cNvSpPr>
            <a:spLocks noGrp="1"/>
          </p:cNvSpPr>
          <p:nvPr/>
        </p:nvSpPr>
        <p:spPr>
          <a:xfrm>
            <a:off x="6724650" y="346710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网页安全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quality-body-1"/>
          <p:cNvSpPr>
            <a:spLocks noGrp="1"/>
          </p:cNvSpPr>
          <p:nvPr/>
        </p:nvSpPr>
        <p:spPr>
          <a:xfrm>
            <a:off x="6724650" y="381000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 HTTP/HTTPS HTML，限制重定向与 10 MiB，拒绝内网地址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quality-check-2"/>
          <p:cNvSpPr>
            <a:spLocks noGrp="1"/>
          </p:cNvSpPr>
          <p:nvPr/>
        </p:nvSpPr>
        <p:spPr>
          <a:xfrm>
            <a:off x="495300" y="4629150"/>
            <a:ext cx="266700" cy="2667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2" name="quality-checkmark-2"/>
          <p:cNvSpPr>
            <a:spLocks noGrp="1"/>
          </p:cNvSpPr>
          <p:nvPr/>
        </p:nvSpPr>
        <p:spPr>
          <a:xfrm>
            <a:off x="495300" y="46196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quality-title-2"/>
          <p:cNvSpPr>
            <a:spLocks noGrp="1"/>
          </p:cNvSpPr>
          <p:nvPr/>
        </p:nvSpPr>
        <p:spPr>
          <a:xfrm>
            <a:off x="914400" y="461010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任务可靠性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quality-body-2"/>
          <p:cNvSpPr>
            <a:spLocks noGrp="1"/>
          </p:cNvSpPr>
          <p:nvPr/>
        </p:nvSpPr>
        <p:spPr>
          <a:xfrm>
            <a:off x="914400" y="495300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流式日志、心跳、超时、取消与子进程回收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quality-check-3"/>
          <p:cNvSpPr>
            <a:spLocks noGrp="1"/>
          </p:cNvSpPr>
          <p:nvPr/>
        </p:nvSpPr>
        <p:spPr>
          <a:xfrm>
            <a:off x="6305550" y="4629150"/>
            <a:ext cx="266700" cy="2667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quality-checkmark-3"/>
          <p:cNvSpPr>
            <a:spLocks noGrp="1"/>
          </p:cNvSpPr>
          <p:nvPr/>
        </p:nvSpPr>
        <p:spPr>
          <a:xfrm>
            <a:off x="6305550" y="46196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quality-title-3"/>
          <p:cNvSpPr>
            <a:spLocks noGrp="1"/>
          </p:cNvSpPr>
          <p:nvPr/>
        </p:nvSpPr>
        <p:spPr>
          <a:xfrm>
            <a:off x="6724650" y="461010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数据一致性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quality-body-3"/>
          <p:cNvSpPr>
            <a:spLocks noGrp="1"/>
          </p:cNvSpPr>
          <p:nvPr/>
        </p:nvSpPr>
        <p:spPr>
          <a:xfrm>
            <a:off x="6724650" y="4953000"/>
            <a:ext cx="4629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启动恢复中断状态，向量写入前幂等删除，失败补偿清理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quality-boundary"/>
          <p:cNvSpPr>
            <a:spLocks noGrp="1"/>
          </p:cNvSpPr>
          <p:nvPr/>
        </p:nvSpPr>
        <p:spPr>
          <a:xfrm>
            <a:off x="495300" y="59055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E5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E5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本次核验：Vite 生产构建通过；现有单元测试聚焦 4 个引擎进程场景，后续仍需补齐 RAG、路由和端到端测试。</a:t>
            </a:r>
            <a:endParaRPr sz="1350" b="0">
              <a:solidFill>
                <a:srgbClr val="E58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6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· 校园服务访问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6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一份本地账号配置，分成两条站点会话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6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trieval-num-0"/>
          <p:cNvSpPr>
            <a:spLocks noGrp="1"/>
          </p:cNvSpPr>
          <p:nvPr/>
        </p:nvSpPr>
        <p:spPr>
          <a:xfrm>
            <a:off x="495300" y="1695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trieval-title-0"/>
          <p:cNvSpPr>
            <a:spLocks noGrp="1"/>
          </p:cNvSpPr>
          <p:nvPr/>
        </p:nvSpPr>
        <p:spPr>
          <a:xfrm>
            <a:off x="1371600" y="1695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账号统一登记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trieval-body-0"/>
          <p:cNvSpPr>
            <a:spLocks noGrp="1"/>
          </p:cNvSpPr>
          <p:nvPr/>
        </p:nvSpPr>
        <p:spPr>
          <a:xfrm>
            <a:off x="1371600" y="2152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学号与密码先经畅课认证校验，再写入本机 campus_config，三个模块共用身份选择。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trieval-num-1"/>
          <p:cNvSpPr>
            <a:spLocks noGrp="1"/>
          </p:cNvSpPr>
          <p:nvPr/>
        </p:nvSpPr>
        <p:spPr>
          <a:xfrm>
            <a:off x="6305550" y="1695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trieval-title-1"/>
          <p:cNvSpPr>
            <a:spLocks noGrp="1"/>
          </p:cNvSpPr>
          <p:nvPr/>
        </p:nvSpPr>
        <p:spPr>
          <a:xfrm>
            <a:off x="7181850" y="1695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畅课会话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trieval-body-1"/>
          <p:cNvSpPr>
            <a:spLocks noGrp="1"/>
          </p:cNvSpPr>
          <p:nvPr/>
        </p:nvSpPr>
        <p:spPr>
          <a:xfrm>
            <a:off x="7181850" y="2152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xmulogin(type=3) 返回已登录 Session；复用 Cookie 访问 profile、rollcalls 与 todos。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trieval-num-2"/>
          <p:cNvSpPr>
            <a:spLocks noGrp="1"/>
          </p:cNvSpPr>
          <p:nvPr/>
        </p:nvSpPr>
        <p:spPr>
          <a:xfrm>
            <a:off x="495300" y="3600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trieval-title-2"/>
          <p:cNvSpPr>
            <a:spLocks noGrp="1"/>
          </p:cNvSpPr>
          <p:nvPr/>
        </p:nvSpPr>
        <p:spPr>
          <a:xfrm>
            <a:off x="1371600" y="3600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XMUOJ 会话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trieval-body-2"/>
          <p:cNvSpPr>
            <a:spLocks noGrp="1"/>
          </p:cNvSpPr>
          <p:nvPr/>
        </p:nvSpPr>
        <p:spPr>
          <a:xfrm>
            <a:off x="1371600" y="4057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 Session：GET 首页取得 CSRF，再 POST /api/login；随后调用竞赛、题目与提交接口。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trieval-num-3"/>
          <p:cNvSpPr>
            <a:spLocks noGrp="1"/>
          </p:cNvSpPr>
          <p:nvPr/>
        </p:nvSpPr>
        <p:spPr>
          <a:xfrm>
            <a:off x="6305550" y="360045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8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trieval-title-3"/>
          <p:cNvSpPr>
            <a:spLocks noGrp="1"/>
          </p:cNvSpPr>
          <p:nvPr/>
        </p:nvSpPr>
        <p:spPr>
          <a:xfrm>
            <a:off x="7181850" y="36004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异步与流式</a:t>
            </a:r>
            <a:endParaRPr sz="19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trieval-body-3"/>
          <p:cNvSpPr>
            <a:spLocks noGrp="1"/>
          </p:cNvSpPr>
          <p:nvPr/>
        </p:nvSpPr>
        <p:spPr>
          <a:xfrm>
            <a:off x="7181850" y="4057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同步请求交给 asyncio.to_thread；签到与 OJ 通过 SSE 持续回传长任务日志。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trieval-outcome"/>
          <p:cNvSpPr>
            <a:spLocks noGrp="1"/>
          </p:cNvSpPr>
          <p:nvPr/>
        </p:nvSpPr>
        <p:spPr>
          <a:xfrm>
            <a:off x="495300" y="5429250"/>
            <a:ext cx="11201400" cy="66675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8" name="retrieval-outcome-text"/>
          <p:cNvSpPr>
            <a:spLocks noGrp="1"/>
          </p:cNvSpPr>
          <p:nvPr/>
        </p:nvSpPr>
        <p:spPr>
          <a:xfrm>
            <a:off x="742950" y="5600700"/>
            <a:ext cx="10706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本地账号入口统一；畅课与 XMUOJ 仍分别维护 Cookie、CSRF 与接口协议。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5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· 签到实现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5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签到引擎持续完成发现漏签、策略判断与自动提交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5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4" name="ingest-arrow-0"/>
          <p:cNvCxnSpPr/>
          <p:nvPr/>
        </p:nvCxnSpPr>
        <p:spPr>
          <a:xfrm>
            <a:off x="22288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5" name="ingest-arrow-1"/>
          <p:cNvCxnSpPr/>
          <p:nvPr/>
        </p:nvCxnSpPr>
        <p:spPr>
          <a:xfrm>
            <a:off x="43624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6" name="ingest-arrow-2"/>
          <p:cNvCxnSpPr/>
          <p:nvPr/>
        </p:nvCxnSpPr>
        <p:spPr>
          <a:xfrm>
            <a:off x="64960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7" name="ingest-arrow-3"/>
          <p:cNvCxnSpPr/>
          <p:nvPr/>
        </p:nvCxnSpPr>
        <p:spPr>
          <a:xfrm>
            <a:off x="86296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8" name="ingest-node-0"/>
          <p:cNvSpPr>
            <a:spLocks noGrp="1"/>
          </p:cNvSpPr>
          <p:nvPr/>
        </p:nvSpPr>
        <p:spPr>
          <a:xfrm>
            <a:off x="8763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ingest-num-0"/>
          <p:cNvSpPr>
            <a:spLocks noGrp="1"/>
          </p:cNvSpPr>
          <p:nvPr/>
        </p:nvSpPr>
        <p:spPr>
          <a:xfrm>
            <a:off x="8763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ingest-title-0"/>
          <p:cNvSpPr>
            <a:spLocks noGrp="1"/>
          </p:cNvSpPr>
          <p:nvPr/>
        </p:nvSpPr>
        <p:spPr>
          <a:xfrm>
            <a:off x="5715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读取策略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ingest-body-0"/>
          <p:cNvSpPr>
            <a:spLocks noGrp="1"/>
          </p:cNvSpPr>
          <p:nvPr/>
        </p:nvSpPr>
        <p:spPr>
          <a:xfrm>
            <a:off x="4762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/ 轮询间隔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时间段 / 人数阈值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ingest-node-1"/>
          <p:cNvSpPr>
            <a:spLocks noGrp="1"/>
          </p:cNvSpPr>
          <p:nvPr/>
        </p:nvSpPr>
        <p:spPr>
          <a:xfrm>
            <a:off x="30099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ingest-num-1"/>
          <p:cNvSpPr>
            <a:spLocks noGrp="1"/>
          </p:cNvSpPr>
          <p:nvPr/>
        </p:nvSpPr>
        <p:spPr>
          <a:xfrm>
            <a:off x="30099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ingest-title-1"/>
          <p:cNvSpPr>
            <a:spLocks noGrp="1"/>
          </p:cNvSpPr>
          <p:nvPr/>
        </p:nvSpPr>
        <p:spPr>
          <a:xfrm>
            <a:off x="27051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认证会话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ingest-body-1"/>
          <p:cNvSpPr>
            <a:spLocks noGrp="1"/>
          </p:cNvSpPr>
          <p:nvPr/>
        </p:nvSpPr>
        <p:spPr>
          <a:xfrm>
            <a:off x="26098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xmulogin 登录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复用畅课 Session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ngest-node-2"/>
          <p:cNvSpPr>
            <a:spLocks noGrp="1"/>
          </p:cNvSpPr>
          <p:nvPr/>
        </p:nvSpPr>
        <p:spPr>
          <a:xfrm>
            <a:off x="51435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ingest-num-2"/>
          <p:cNvSpPr>
            <a:spLocks noGrp="1"/>
          </p:cNvSpPr>
          <p:nvPr/>
        </p:nvSpPr>
        <p:spPr>
          <a:xfrm>
            <a:off x="51435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ingest-title-2"/>
          <p:cNvSpPr>
            <a:spLocks noGrp="1"/>
          </p:cNvSpPr>
          <p:nvPr/>
        </p:nvSpPr>
        <p:spPr>
          <a:xfrm>
            <a:off x="48387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循环巡航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ingest-body-2"/>
          <p:cNvSpPr>
            <a:spLocks noGrp="1"/>
          </p:cNvSpPr>
          <p:nvPr/>
        </p:nvSpPr>
        <p:spPr>
          <a:xfrm>
            <a:off x="47434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按间隔轮询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rollcalls 接口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ingest-node-3"/>
          <p:cNvSpPr>
            <a:spLocks noGrp="1"/>
          </p:cNvSpPr>
          <p:nvPr/>
        </p:nvSpPr>
        <p:spPr>
          <a:xfrm>
            <a:off x="72771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ingest-num-3"/>
          <p:cNvSpPr>
            <a:spLocks noGrp="1"/>
          </p:cNvSpPr>
          <p:nvPr/>
        </p:nvSpPr>
        <p:spPr>
          <a:xfrm>
            <a:off x="72771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ingest-title-3"/>
          <p:cNvSpPr>
            <a:spLocks noGrp="1"/>
          </p:cNvSpPr>
          <p:nvPr/>
        </p:nvSpPr>
        <p:spPr>
          <a:xfrm>
            <a:off x="69723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策略过滤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ingest-body-3"/>
          <p:cNvSpPr>
            <a:spLocks noGrp="1"/>
          </p:cNvSpPr>
          <p:nvPr/>
        </p:nvSpPr>
        <p:spPr>
          <a:xfrm>
            <a:off x="68770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仅处理 absent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未达阈值继续等待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ingest-node-4"/>
          <p:cNvSpPr>
            <a:spLocks noGrp="1"/>
          </p:cNvSpPr>
          <p:nvPr/>
        </p:nvSpPr>
        <p:spPr>
          <a:xfrm>
            <a:off x="9410700" y="2247900"/>
            <a:ext cx="800100" cy="800100"/>
          </a:xfrm>
          <a:prstGeom prst="ellipse">
            <a:avLst/>
          </a:prstGeom>
          <a:solidFill>
            <a:srgbClr val="22A06B"/>
          </a:solidFill>
          <a:ln w="0">
            <a:noFill/>
            <a:prstDash val="solid"/>
          </a:ln>
        </p:spPr>
      </p:sp>
      <p:sp>
        <p:nvSpPr>
          <p:cNvPr id="25" name="ingest-num-4"/>
          <p:cNvSpPr>
            <a:spLocks noGrp="1"/>
          </p:cNvSpPr>
          <p:nvPr/>
        </p:nvSpPr>
        <p:spPr>
          <a:xfrm>
            <a:off x="94107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ingest-title-4"/>
          <p:cNvSpPr>
            <a:spLocks noGrp="1"/>
          </p:cNvSpPr>
          <p:nvPr/>
        </p:nvSpPr>
        <p:spPr>
          <a:xfrm>
            <a:off x="91059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执行签到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ingest-body-4"/>
          <p:cNvSpPr>
            <a:spLocks noGrp="1"/>
          </p:cNvSpPr>
          <p:nvPr/>
        </p:nvSpPr>
        <p:spPr>
          <a:xfrm>
            <a:off x="90106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数字码提交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雷达求两圆交点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8" name="ingest-rule"/>
          <p:cNvCxnSpPr/>
          <p:nvPr/>
        </p:nvCxnSpPr>
        <p:spPr>
          <a:xfrm>
            <a:off x="495300" y="4762500"/>
            <a:ext cx="112014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9" name="ingest-dedup-title"/>
          <p:cNvSpPr>
            <a:spLocks noGrp="1"/>
          </p:cNvSpPr>
          <p:nvPr/>
        </p:nvSpPr>
        <p:spPr>
          <a:xfrm>
            <a:off x="6477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时间控制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ingest-dedup-body"/>
          <p:cNvSpPr>
            <a:spLocks noGrp="1"/>
          </p:cNvSpPr>
          <p:nvPr/>
        </p:nvSpPr>
        <p:spPr>
          <a:xfrm>
            <a:off x="647700" y="54102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default 全天 / custom 时段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ingest-state-title"/>
          <p:cNvSpPr>
            <a:spLocks noGrp="1"/>
          </p:cNvSpPr>
          <p:nvPr/>
        </p:nvSpPr>
        <p:spPr>
          <a:xfrm>
            <a:off x="40767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防风控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ingest-state-body"/>
          <p:cNvSpPr>
            <a:spLocks noGrp="1"/>
          </p:cNvSpPr>
          <p:nvPr/>
        </p:nvSpPr>
        <p:spPr>
          <a:xfrm>
            <a:off x="4076700" y="5410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达到 answer_threshold 后才提交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ingest-comp-title"/>
          <p:cNvSpPr>
            <a:spLocks noGrp="1"/>
          </p:cNvSpPr>
          <p:nvPr/>
        </p:nvSpPr>
        <p:spPr>
          <a:xfrm>
            <a:off x="87630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可观察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ingest-comp-body"/>
          <p:cNvSpPr>
            <a:spLocks noGrp="1"/>
          </p:cNvSpPr>
          <p:nvPr/>
        </p:nvSpPr>
        <p:spPr>
          <a:xfrm>
            <a:off x="8763000" y="54102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 回传巡航与签到结果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5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· OJ 实现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5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OJ 托管把读取题目、生成代码、提交评测串成流水线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5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4" name="ingest-arrow-0"/>
          <p:cNvCxnSpPr/>
          <p:nvPr/>
        </p:nvCxnSpPr>
        <p:spPr>
          <a:xfrm>
            <a:off x="22288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5" name="ingest-arrow-1"/>
          <p:cNvCxnSpPr/>
          <p:nvPr/>
        </p:nvCxnSpPr>
        <p:spPr>
          <a:xfrm>
            <a:off x="43624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6" name="ingest-arrow-2"/>
          <p:cNvCxnSpPr/>
          <p:nvPr/>
        </p:nvCxnSpPr>
        <p:spPr>
          <a:xfrm>
            <a:off x="64960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cxnSp>
        <p:nvCxnSpPr>
          <p:cNvPr id="97" name="ingest-arrow-3"/>
          <p:cNvCxnSpPr/>
          <p:nvPr/>
        </p:nvCxnSpPr>
        <p:spPr>
          <a:xfrm>
            <a:off x="8629650" y="2647950"/>
            <a:ext cx="781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8" name="ingest-node-0"/>
          <p:cNvSpPr>
            <a:spLocks noGrp="1"/>
          </p:cNvSpPr>
          <p:nvPr/>
        </p:nvSpPr>
        <p:spPr>
          <a:xfrm>
            <a:off x="8763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ingest-num-0"/>
          <p:cNvSpPr>
            <a:spLocks noGrp="1"/>
          </p:cNvSpPr>
          <p:nvPr/>
        </p:nvSpPr>
        <p:spPr>
          <a:xfrm>
            <a:off x="8763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ingest-title-0"/>
          <p:cNvSpPr>
            <a:spLocks noGrp="1"/>
          </p:cNvSpPr>
          <p:nvPr/>
        </p:nvSpPr>
        <p:spPr>
          <a:xfrm>
            <a:off x="5715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建立会话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ingest-body-0"/>
          <p:cNvSpPr>
            <a:spLocks noGrp="1"/>
          </p:cNvSpPr>
          <p:nvPr/>
        </p:nvSpPr>
        <p:spPr>
          <a:xfrm>
            <a:off x="4762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首页取 CSRF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/api/login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ingest-node-1"/>
          <p:cNvSpPr>
            <a:spLocks noGrp="1"/>
          </p:cNvSpPr>
          <p:nvPr/>
        </p:nvSpPr>
        <p:spPr>
          <a:xfrm>
            <a:off x="30099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ingest-num-1"/>
          <p:cNvSpPr>
            <a:spLocks noGrp="1"/>
          </p:cNvSpPr>
          <p:nvPr/>
        </p:nvSpPr>
        <p:spPr>
          <a:xfrm>
            <a:off x="30099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ingest-title-1"/>
          <p:cNvSpPr>
            <a:spLocks noGrp="1"/>
          </p:cNvSpPr>
          <p:nvPr/>
        </p:nvSpPr>
        <p:spPr>
          <a:xfrm>
            <a:off x="27051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进入实验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ingest-body-1"/>
          <p:cNvSpPr>
            <a:spLocks noGrp="1"/>
          </p:cNvSpPr>
          <p:nvPr/>
        </p:nvSpPr>
        <p:spPr>
          <a:xfrm>
            <a:off x="26098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 contest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密码实验再解锁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ngest-node-2"/>
          <p:cNvSpPr>
            <a:spLocks noGrp="1"/>
          </p:cNvSpPr>
          <p:nvPr/>
        </p:nvSpPr>
        <p:spPr>
          <a:xfrm>
            <a:off x="51435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ingest-num-2"/>
          <p:cNvSpPr>
            <a:spLocks noGrp="1"/>
          </p:cNvSpPr>
          <p:nvPr/>
        </p:nvSpPr>
        <p:spPr>
          <a:xfrm>
            <a:off x="51435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ingest-title-2"/>
          <p:cNvSpPr>
            <a:spLocks noGrp="1"/>
          </p:cNvSpPr>
          <p:nvPr/>
        </p:nvSpPr>
        <p:spPr>
          <a:xfrm>
            <a:off x="48387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筛选题目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ingest-body-2"/>
          <p:cNvSpPr>
            <a:spLocks noGrp="1"/>
          </p:cNvSpPr>
          <p:nvPr/>
        </p:nvSpPr>
        <p:spPr>
          <a:xfrm>
            <a:off x="47434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 problem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跳过已通过题目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ingest-node-3"/>
          <p:cNvSpPr>
            <a:spLocks noGrp="1"/>
          </p:cNvSpPr>
          <p:nvPr/>
        </p:nvSpPr>
        <p:spPr>
          <a:xfrm>
            <a:off x="7277100" y="2247900"/>
            <a:ext cx="800100" cy="8001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1" name="ingest-num-3"/>
          <p:cNvSpPr>
            <a:spLocks noGrp="1"/>
          </p:cNvSpPr>
          <p:nvPr/>
        </p:nvSpPr>
        <p:spPr>
          <a:xfrm>
            <a:off x="72771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ingest-title-3"/>
          <p:cNvSpPr>
            <a:spLocks noGrp="1"/>
          </p:cNvSpPr>
          <p:nvPr/>
        </p:nvSpPr>
        <p:spPr>
          <a:xfrm>
            <a:off x="69723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生成提交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ingest-body-3"/>
          <p:cNvSpPr>
            <a:spLocks noGrp="1"/>
          </p:cNvSpPr>
          <p:nvPr/>
        </p:nvSpPr>
        <p:spPr>
          <a:xfrm>
            <a:off x="68770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模型生成代码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submission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ingest-node-4"/>
          <p:cNvSpPr>
            <a:spLocks noGrp="1"/>
          </p:cNvSpPr>
          <p:nvPr/>
        </p:nvSpPr>
        <p:spPr>
          <a:xfrm>
            <a:off x="9410700" y="2247900"/>
            <a:ext cx="800100" cy="800100"/>
          </a:xfrm>
          <a:prstGeom prst="ellipse">
            <a:avLst/>
          </a:prstGeom>
          <a:solidFill>
            <a:srgbClr val="22A06B"/>
          </a:solidFill>
          <a:ln w="0">
            <a:noFill/>
            <a:prstDash val="solid"/>
          </a:ln>
        </p:spPr>
      </p:sp>
      <p:sp>
        <p:nvSpPr>
          <p:cNvPr id="25" name="ingest-num-4"/>
          <p:cNvSpPr>
            <a:spLocks noGrp="1"/>
          </p:cNvSpPr>
          <p:nvPr/>
        </p:nvSpPr>
        <p:spPr>
          <a:xfrm>
            <a:off x="9410700" y="23717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ingest-title-4"/>
          <p:cNvSpPr>
            <a:spLocks noGrp="1"/>
          </p:cNvSpPr>
          <p:nvPr/>
        </p:nvSpPr>
        <p:spPr>
          <a:xfrm>
            <a:off x="9105900" y="3238500"/>
            <a:ext cx="140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轮询结果</a:t>
            </a:r>
            <a:endParaRPr sz="1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ingest-body-4"/>
          <p:cNvSpPr>
            <a:spLocks noGrp="1"/>
          </p:cNvSpPr>
          <p:nvPr/>
        </p:nvSpPr>
        <p:spPr>
          <a:xfrm>
            <a:off x="9010650" y="3676650"/>
            <a:ext cx="1600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submission_id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轮询评测 / 冷却</a:t>
            </a:r>
            <a:endParaRPr sz="12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8" name="ingest-rule"/>
          <p:cNvCxnSpPr/>
          <p:nvPr/>
        </p:nvCxnSpPr>
        <p:spPr>
          <a:xfrm>
            <a:off x="495300" y="4762500"/>
            <a:ext cx="112014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29" name="ingest-dedup-title"/>
          <p:cNvSpPr>
            <a:spLocks noGrp="1"/>
          </p:cNvSpPr>
          <p:nvPr/>
        </p:nvSpPr>
        <p:spPr>
          <a:xfrm>
            <a:off x="6477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模型适配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ingest-dedup-body"/>
          <p:cNvSpPr>
            <a:spLocks noGrp="1"/>
          </p:cNvSpPr>
          <p:nvPr/>
        </p:nvSpPr>
        <p:spPr>
          <a:xfrm>
            <a:off x="647700" y="54102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/ OpenAI-compatible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ingest-state-title"/>
          <p:cNvSpPr>
            <a:spLocks noGrp="1"/>
          </p:cNvSpPr>
          <p:nvPr/>
        </p:nvSpPr>
        <p:spPr>
          <a:xfrm>
            <a:off x="40767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流式反馈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ingest-state-body"/>
          <p:cNvSpPr>
            <a:spLocks noGrp="1"/>
          </p:cNvSpPr>
          <p:nvPr/>
        </p:nvSpPr>
        <p:spPr>
          <a:xfrm>
            <a:off x="4076700" y="5410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EventSource 展示生成、提交与评测状态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ingest-comp-title"/>
          <p:cNvSpPr>
            <a:spLocks noGrp="1"/>
          </p:cNvSpPr>
          <p:nvPr/>
        </p:nvSpPr>
        <p:spPr>
          <a:xfrm>
            <a:off x="8763000" y="50863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当前边界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ingest-comp-body"/>
          <p:cNvSpPr>
            <a:spLocks noGrp="1"/>
          </p:cNvSpPr>
          <p:nvPr/>
        </p:nvSpPr>
        <p:spPr>
          <a:xfrm>
            <a:off x="8763000" y="54102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固定密码 / verify=False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-8"/>
          <p:cNvSpPr>
            <a:spLocks noGrp="1"/>
          </p:cNvSpPr>
          <p:nvPr/>
        </p:nvSpPr>
        <p:spPr>
          <a:xfrm>
            <a:off x="495300" y="285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111"/>
          </a:bodyPr>
          <a:lstStyle/>
          <a:p>
            <a:pPr algn="l">
              <a:buNone/>
              <a:def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· Deadline 看板</a:t>
            </a:r>
            <a:endParaRPr sz="112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8"/>
          <p:cNvSpPr>
            <a:spLocks noGrp="1"/>
          </p:cNvSpPr>
          <p:nvPr/>
        </p:nvSpPr>
        <p:spPr>
          <a:xfrm>
            <a:off x="495300" y="590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Deadline 以“缓存秒开 + 手动同步”兼顾速度与新鲜度</a:t>
            </a:r>
            <a:endParaRPr sz="32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oter-8"/>
          <p:cNvSpPr>
            <a:spLocks noGrp="1"/>
          </p:cNvSpPr>
          <p:nvPr/>
        </p:nvSpPr>
        <p:spPr>
          <a:xfrm>
            <a:off x="11239500" y="64008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667"/>
          </a:bodyPr>
          <a:lstStyle/>
          <a:p>
            <a:pPr algn="r">
              <a:buNone/>
              <a:def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7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desktop-line"/>
          <p:cNvCxnSpPr/>
          <p:nvPr/>
        </p:nvCxnSpPr>
        <p:spPr>
          <a:xfrm>
            <a:off x="685800" y="5334000"/>
            <a:ext cx="106680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desktop-card-0"/>
          <p:cNvSpPr>
            <a:spLocks noGrp="1"/>
          </p:cNvSpPr>
          <p:nvPr/>
        </p:nvSpPr>
        <p:spPr>
          <a:xfrm>
            <a:off x="609600" y="171450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desktop-title-0"/>
          <p:cNvSpPr>
            <a:spLocks noGrp="1"/>
          </p:cNvSpPr>
          <p:nvPr/>
        </p:nvSpPr>
        <p:spPr>
          <a:xfrm>
            <a:off x="876300" y="20764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缓存优先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desktop-body-0"/>
          <p:cNvSpPr>
            <a:spLocks noGrp="1"/>
          </p:cNvSpPr>
          <p:nvPr/>
        </p:nvSpPr>
        <p:spPr>
          <a:xfrm>
            <a:off x="876300" y="2762250"/>
            <a:ext cx="2705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选择账号时请求 sync=false，直接按 deadline 从 SQLite 读取，页面立即展示。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desktop-dot-0"/>
          <p:cNvSpPr>
            <a:spLocks noGrp="1"/>
          </p:cNvSpPr>
          <p:nvPr/>
        </p:nvSpPr>
        <p:spPr>
          <a:xfrm>
            <a:off x="571500" y="5257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9" name="desktop-label-0"/>
          <p:cNvSpPr>
            <a:spLocks noGrp="1"/>
          </p:cNvSpPr>
          <p:nvPr/>
        </p:nvSpPr>
        <p:spPr>
          <a:xfrm>
            <a:off x="609600" y="55816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日常打开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esktop-card-1"/>
          <p:cNvSpPr>
            <a:spLocks noGrp="1"/>
          </p:cNvSpPr>
          <p:nvPr/>
        </p:nvSpPr>
        <p:spPr>
          <a:xfrm>
            <a:off x="4324350" y="171450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1" name="desktop-title-1"/>
          <p:cNvSpPr>
            <a:spLocks noGrp="1"/>
          </p:cNvSpPr>
          <p:nvPr/>
        </p:nvSpPr>
        <p:spPr>
          <a:xfrm>
            <a:off x="4591050" y="20764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畅课同步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esktop-body-1"/>
          <p:cNvSpPr>
            <a:spLocks noGrp="1"/>
          </p:cNvSpPr>
          <p:nvPr/>
        </p:nvSpPr>
        <p:spPr>
          <a:xfrm>
            <a:off x="4591050" y="2762250"/>
            <a:ext cx="2705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点击同步后用 xmulogin 登录，通过同一 Session 请求 /api/todos 并解析 todo_list。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desktop-dot-1"/>
          <p:cNvSpPr>
            <a:spLocks noGrp="1"/>
          </p:cNvSpPr>
          <p:nvPr/>
        </p:nvSpPr>
        <p:spPr>
          <a:xfrm>
            <a:off x="4286250" y="52578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desktop-label-1"/>
          <p:cNvSpPr>
            <a:spLocks noGrp="1"/>
          </p:cNvSpPr>
          <p:nvPr/>
        </p:nvSpPr>
        <p:spPr>
          <a:xfrm>
            <a:off x="4324350" y="55816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需要刷新</a:t>
            </a:r>
            <a:endParaRPr sz="1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esktop-card-2"/>
          <p:cNvSpPr>
            <a:spLocks noGrp="1"/>
          </p:cNvSpPr>
          <p:nvPr/>
        </p:nvSpPr>
        <p:spPr>
          <a:xfrm>
            <a:off x="8039100" y="171450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6F8F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desktop-title-2"/>
          <p:cNvSpPr>
            <a:spLocks noGrp="1"/>
          </p:cNvSpPr>
          <p:nvPr/>
        </p:nvSpPr>
        <p:spPr>
          <a:xfrm>
            <a:off x="8305800" y="20764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落库与分级</a:t>
            </a:r>
            <a:endParaRPr sz="187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desktop-body-2"/>
          <p:cNvSpPr>
            <a:spLocks noGrp="1"/>
          </p:cNvSpPr>
          <p:nvPr/>
        </p:nvSpPr>
        <p:spPr>
          <a:xfrm>
            <a:off x="8305800" y="2762250"/>
            <a:ext cx="27051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先清旧数据再批量写入；前端按已逾期、24h、72h、时间充裕显示时间线颜色。</a:t>
            </a:r>
            <a:endParaRPr sz="1425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esktop-dot-2"/>
          <p:cNvSpPr>
            <a:spLocks noGrp="1"/>
          </p:cNvSpPr>
          <p:nvPr/>
        </p:nvSpPr>
        <p:spPr>
          <a:xfrm>
            <a:off x="8001000" y="52578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9" name="desktop-label-2"/>
          <p:cNvSpPr>
            <a:spLocks noGrp="1"/>
          </p:cNvSpPr>
          <p:nvPr/>
        </p:nvSpPr>
        <p:spPr>
          <a:xfrm>
            <a:off x="8039100" y="55816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展示结果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desktop-note"/>
          <p:cNvSpPr>
            <a:spLocks noGrp="1"/>
          </p:cNvSpPr>
          <p:nvPr/>
        </p:nvSpPr>
        <p:spPr>
          <a:xfrm>
            <a:off x="495300" y="60960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/>
          </a:bodyPr>
          <a:lstStyle/>
          <a:p>
            <a:pPr algn="l">
              <a:buNone/>
              <a:def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统一课程、任务、类型、截止时间与提交状态；单条异常跳过，不阻塞同步。</a:t>
            </a:r>
            <a:endParaRPr sz="13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se-kicker"/>
          <p:cNvSpPr>
            <a:spLocks noGrp="1"/>
          </p:cNvSpPr>
          <p:nvPr/>
        </p:nvSpPr>
        <p:spPr>
          <a:xfrm>
            <a:off x="495300" y="3810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总结与下一步</a:t>
            </a:r>
            <a:endParaRPr sz="15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lose-main"/>
          <p:cNvSpPr>
            <a:spLocks noGrp="1"/>
          </p:cNvSpPr>
          <p:nvPr/>
        </p:nvSpPr>
        <p:spPr>
          <a:xfrm>
            <a:off x="495300" y="1428750"/>
            <a:ext cx="1066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37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我完成的不是一个聊天页面，</a:t>
            </a:r>
            <a:endParaRPr sz="37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37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而是一条从资料到可信答案的完整链路</a:t>
            </a:r>
            <a:endParaRPr sz="37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lose-accent"/>
          <p:cNvSpPr>
            <a:spLocks noGrp="1"/>
          </p:cNvSpPr>
          <p:nvPr/>
        </p:nvSpPr>
        <p:spPr>
          <a:xfrm>
            <a:off x="495300" y="3657600"/>
            <a:ext cx="114300" cy="2000250"/>
          </a:xfrm>
          <a:prstGeom prst="roundRect">
            <a:avLst>
              <a:gd name="adj" fmla="val 1666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close-achievement"/>
          <p:cNvSpPr>
            <a:spLocks noGrp="1"/>
          </p:cNvSpPr>
          <p:nvPr/>
        </p:nvSpPr>
        <p:spPr>
          <a:xfrm>
            <a:off x="876300" y="3714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lose-achievement-body"/>
          <p:cNvSpPr>
            <a:spLocks noGrp="1"/>
          </p:cNvSpPr>
          <p:nvPr/>
        </p:nvSpPr>
        <p:spPr>
          <a:xfrm>
            <a:off x="876300" y="411480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多格式入库 → 混合检索 → 引用问答 → 本地资料管理 → Windows 桌面交付</a:t>
            </a:r>
            <a:endParaRPr sz="16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lose-boundary"/>
          <p:cNvSpPr>
            <a:spLocks noGrp="1"/>
          </p:cNvSpPr>
          <p:nvPr/>
        </p:nvSpPr>
        <p:spPr>
          <a:xfrm>
            <a:off x="876300" y="4667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E5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E58A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当前边界</a:t>
            </a:r>
            <a:endParaRPr sz="1650" b="1">
              <a:solidFill>
                <a:srgbClr val="E58A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lose-boundary-body"/>
          <p:cNvSpPr>
            <a:spLocks noGrp="1"/>
          </p:cNvSpPr>
          <p:nvPr/>
        </p:nvSpPr>
        <p:spPr>
          <a:xfrm>
            <a:off x="876300" y="5067300"/>
            <a:ext cx="904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本机密钥仍是明文、OJ 证书策略需收紧、前端包体较大、自动化测试覆盖不足</a:t>
            </a:r>
            <a:endParaRPr sz="16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lose-next"/>
          <p:cNvSpPr>
            <a:spLocks noGrp="1"/>
          </p:cNvSpPr>
          <p:nvPr/>
        </p:nvSpPr>
        <p:spPr>
          <a:xfrm>
            <a:off x="876300" y="5619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650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2A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1650" b="1">
              <a:solidFill>
                <a:srgbClr val="22A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lose-next-body"/>
          <p:cNvSpPr>
            <a:spLocks noGrp="1"/>
          </p:cNvSpPr>
          <p:nvPr/>
        </p:nvSpPr>
        <p:spPr>
          <a:xfrm>
            <a:off x="876300" y="6019800"/>
            <a:ext cx="933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6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66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凭据加密 + API_BASE 统一配置 + 代码拆包 + 单元/接口/E2E 测试 + 安装包签名</a:t>
            </a:r>
            <a:endParaRPr sz="1650" b="0">
              <a:solidFill>
                <a:srgbClr val="566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lose-qa"/>
          <p:cNvSpPr>
            <a:spLocks noGrp="1"/>
          </p:cNvSpPr>
          <p:nvPr/>
        </p:nvSpPr>
        <p:spPr>
          <a:xfrm>
            <a:off x="10477500" y="5867400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22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Q&amp;A</a:t>
            </a:r>
            <a:endParaRPr sz="22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2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3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4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5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6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7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8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9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0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1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2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3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4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5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6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7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8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19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20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21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22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23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ags/tag24.xml><?xml version="1.0" encoding="utf-8"?>
<p:tagLst xmlns:p="http://schemas.openxmlformats.org/presentationml/2006/main">
  <p:tag name="KSO_WM_DIAGRAM_VIRTUALLY_FRAME" val="{&quot;height&quot;:299.25,&quot;left&quot;:39,&quot;top&quot;:129.75,&quot;width&quot;:88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3471</Words>
  <Application>WPS 演示</Application>
  <PresentationFormat>Converted Presentation</PresentationFormat>
  <Paragraphs>494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WPS_1657420455</cp:lastModifiedBy>
  <cp:revision>2</cp:revision>
  <dcterms:created xsi:type="dcterms:W3CDTF">2026-07-16T00:36:35Z</dcterms:created>
  <dcterms:modified xsi:type="dcterms:W3CDTF">2026-07-16T00:56:59Z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2C9527762A3E4273AAD6FF543E3003F8_12</vt:lpwstr>
  </property>
</Properties>
</file>